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35D8A2-98E7-4A21-B159-DB5B5CC62434}" v="6" dt="2026-06-09T23:43:04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11BDC8A-8049-4564-A48D-C8E1EF7DE9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B1AE6-915B-416E-8031-B235D8066A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9DF786-F09B-4E2E-9674-A38D0A74D387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D316E-8045-4135-B208-BA9DD0AF3398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3F2FF-0C77-45AC-958B-E6FFDA8A1B5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C54734-B80D-4BF7-B782-E9D90A64DAA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13F2ED-FE32-48FC-AB14-1BBBF5BE9ED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ECAFF-9709-4F56-98D9-8778F1E0EC7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4C40E-89CF-4933-8EAB-ECD9E882511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E8597-2861-49D9-87A7-0BB0B4F1BFF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8006DA-616C-4BDA-8FD9-6A3DAF50105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FC0A25-09B6-4409-9778-FAFEE3FDAAD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6D9CC1-CA6B-47FD-B44C-1F74FAEE1EB5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EC96C0-6150-434D-A22C-57C63436220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C2370C-25A5-4299-8D7F-75BEC38AC294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4F115B-C3BB-461F-B8D3-234ED585AF0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8323B1-4956-42AD-90C0-D96536C466C0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431F8F-0B7D-4548-AAFC-E0D092D555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1128EE-F28F-4FFB-B401-5028555F7963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BE494E-660B-48F6-B421-ACD7E91AF27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6F9608-7535-4128-8834-B429AA2FCF21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7B346-E077-4085-99C1-17102E1201F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9AF019-BDF6-478C-8747-780E884140F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29E3B9-C6BC-4700-B3F7-E44585156AFC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B81649-0E4E-4805-B33C-0F57DFEB4417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63214C-85A9-45BD-AB59-359909D6940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rcRect l="20833" r="20833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77A96E1-15AC-4F13-A380-5745D73A14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3B74A2-D6EC-4A6B-8FF2-03749FD1F384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304800" cy="68580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EACD56-2031-47AD-AAB3-92E112F61D1E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5334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ExamScheduler V2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439CA7-70E4-4FEF-AF3E-D8445E93CB7D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Course project presentation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E846AF-9F84-4735-B75C-9E4597001222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4953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GUI operation, architecture boundary, testing evidence, and development insights.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4A892F-D119-49E0-8795-8D3FBE8900A8}"/>
              </a:ext>
            </a:extLst>
          </p:cNvPr>
          <p:cNvSpPr>
            <a:spLocks noGrp="1"/>
          </p:cNvSpPr>
          <p:nvPr/>
        </p:nvSpPr>
        <p:spPr>
          <a:xfrm>
            <a:off x="755863" y="37909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70E7E0"/>
                </a:solidFill>
                <a:latin typeface="Aptos"/>
                <a:ea typeface="Aptos"/>
                <a:cs typeface="Aptos"/>
              </a:rPr>
              <a:t>Lead Designer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59FF85-8F6B-4E92-8A0C-E820E5FF3865}"/>
              </a:ext>
            </a:extLst>
          </p:cNvPr>
          <p:cNvSpPr>
            <a:spLocks noGrp="1"/>
          </p:cNvSpPr>
          <p:nvPr/>
        </p:nvSpPr>
        <p:spPr>
          <a:xfrm>
            <a:off x="2152650" y="37909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6FAFF"/>
                </a:solidFill>
                <a:latin typeface="Aptos"/>
                <a:ea typeface="Aptos"/>
                <a:cs typeface="Aptos"/>
              </a:rPr>
              <a:t>Maoz Brown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0C70C5-E081-4F29-9DCD-53649CCB7C75}"/>
              </a:ext>
            </a:extLst>
          </p:cNvPr>
          <p:cNvSpPr>
            <a:spLocks noGrp="1"/>
          </p:cNvSpPr>
          <p:nvPr/>
        </p:nvSpPr>
        <p:spPr>
          <a:xfrm>
            <a:off x="3733800" y="3790950"/>
            <a:ext cx="2381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Sprint Lead, </a:t>
            </a:r>
            <a:r>
              <a:rPr sz="975" b="0" dirty="0">
                <a:solidFill>
                  <a:srgbClr val="91A3B8"/>
                </a:solidFill>
                <a:latin typeface="Aptos"/>
                <a:ea typeface="Aptos"/>
                <a:cs typeface="Aptos"/>
              </a:rPr>
              <a:t>operation demo, V2 surface, V1/V2 comparison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4F84C-6D21-4F46-8AE4-28A8AF5E199E}"/>
              </a:ext>
            </a:extLst>
          </p:cNvPr>
          <p:cNvSpPr>
            <a:spLocks noGrp="1"/>
          </p:cNvSpPr>
          <p:nvPr/>
        </p:nvSpPr>
        <p:spPr>
          <a:xfrm>
            <a:off x="752475" y="48196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70E7E0"/>
                </a:solidFill>
                <a:latin typeface="Aptos"/>
                <a:ea typeface="Aptos"/>
                <a:cs typeface="Aptos"/>
              </a:rPr>
              <a:t>Design Manager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7907A8-A57E-4124-AB48-211463348AF1}"/>
              </a:ext>
            </a:extLst>
          </p:cNvPr>
          <p:cNvSpPr>
            <a:spLocks noGrp="1"/>
          </p:cNvSpPr>
          <p:nvPr/>
        </p:nvSpPr>
        <p:spPr>
          <a:xfrm>
            <a:off x="2143125" y="48196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6FAFF"/>
                </a:solidFill>
                <a:latin typeface="Aptos"/>
                <a:ea typeface="Aptos"/>
                <a:cs typeface="Aptos"/>
              </a:rPr>
              <a:t>Alex Roizen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CAB503-651E-4E85-A595-72BB60A0388B}"/>
              </a:ext>
            </a:extLst>
          </p:cNvPr>
          <p:cNvSpPr>
            <a:spLocks noGrp="1"/>
          </p:cNvSpPr>
          <p:nvPr/>
        </p:nvSpPr>
        <p:spPr>
          <a:xfrm>
            <a:off x="3724275" y="4819650"/>
            <a:ext cx="2381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GUI architecture, backend boundary, information flow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E6FB10-4DCB-4966-8754-E5EE6F324D08}"/>
              </a:ext>
            </a:extLst>
          </p:cNvPr>
          <p:cNvSpPr>
            <a:spLocks noGrp="1"/>
          </p:cNvSpPr>
          <p:nvPr/>
        </p:nvSpPr>
        <p:spPr>
          <a:xfrm>
            <a:off x="752475" y="53721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70E7E0"/>
                </a:solidFill>
                <a:latin typeface="Aptos"/>
                <a:ea typeface="Aptos"/>
                <a:cs typeface="Aptos"/>
              </a:rPr>
              <a:t>Test Manager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C97AB9-8336-4824-BF2B-BD8C9D69D860}"/>
              </a:ext>
            </a:extLst>
          </p:cNvPr>
          <p:cNvSpPr>
            <a:spLocks noGrp="1"/>
          </p:cNvSpPr>
          <p:nvPr/>
        </p:nvSpPr>
        <p:spPr>
          <a:xfrm>
            <a:off x="2143125" y="53721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Eli Sasson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F617C7-34AF-4ADA-AD89-39E5974C40E2}"/>
              </a:ext>
            </a:extLst>
          </p:cNvPr>
          <p:cNvSpPr>
            <a:spLocks noGrp="1"/>
          </p:cNvSpPr>
          <p:nvPr/>
        </p:nvSpPr>
        <p:spPr>
          <a:xfrm>
            <a:off x="3724275" y="5372100"/>
            <a:ext cx="2381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Test</a:t>
            </a:r>
            <a:r>
              <a:rPr sz="975" b="0" dirty="0">
                <a:solidFill>
                  <a:srgbClr val="91A3B8"/>
                </a:solidFill>
                <a:latin typeface="Aptos"/>
                <a:ea typeface="Aptos"/>
                <a:cs typeface="Aptos"/>
              </a:rPr>
              <a:t> results, review findings, validation risks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5FAB6F-5073-4F4B-BBEF-EA68EB860B32}"/>
              </a:ext>
            </a:extLst>
          </p:cNvPr>
          <p:cNvSpPr>
            <a:spLocks noGrp="1"/>
          </p:cNvSpPr>
          <p:nvPr/>
        </p:nvSpPr>
        <p:spPr>
          <a:xfrm>
            <a:off x="723900" y="60960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8483EF-0E11-E4FF-F8B3-BBD8EF38ECFD}"/>
              </a:ext>
            </a:extLst>
          </p:cNvPr>
          <p:cNvSpPr>
            <a:spLocks noGrp="1"/>
          </p:cNvSpPr>
          <p:nvPr/>
        </p:nvSpPr>
        <p:spPr>
          <a:xfrm>
            <a:off x="752475" y="4257675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lang="en-US" sz="1125" b="1" dirty="0"/>
              <a:t>Software Development Lead</a:t>
            </a:r>
            <a:endParaRPr sz="1125" b="1" dirty="0">
              <a:solidFill>
                <a:srgbClr val="70E7E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30A24B-90C0-05A4-4ACC-ADC7F57BC498}"/>
              </a:ext>
            </a:extLst>
          </p:cNvPr>
          <p:cNvSpPr>
            <a:spLocks noGrp="1"/>
          </p:cNvSpPr>
          <p:nvPr/>
        </p:nvSpPr>
        <p:spPr>
          <a:xfrm>
            <a:off x="2143125" y="4306771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lang="en-US" sz="1275" b="1" dirty="0">
                <a:solidFill>
                  <a:srgbClr val="F6FAFF"/>
                </a:solidFill>
                <a:latin typeface="Aptos"/>
                <a:ea typeface="Aptos"/>
                <a:cs typeface="Aptos"/>
              </a:rPr>
              <a:t>Orian Bitton</a:t>
            </a:r>
            <a:endParaRPr sz="1275" b="1" dirty="0">
              <a:solidFill>
                <a:srgbClr val="F6FA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7EBC95-2D1B-A1E0-CD82-95BE24A3B36D}"/>
              </a:ext>
            </a:extLst>
          </p:cNvPr>
          <p:cNvSpPr>
            <a:spLocks noGrp="1"/>
          </p:cNvSpPr>
          <p:nvPr/>
        </p:nvSpPr>
        <p:spPr>
          <a:xfrm>
            <a:off x="3724275" y="4276086"/>
            <a:ext cx="2381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91A3B8"/>
                </a:solidFill>
                <a:latin typeface="Aptos"/>
                <a:ea typeface="Aptos"/>
                <a:cs typeface="Aptos"/>
              </a:rPr>
              <a:t>Core scheduling algorithm, batch streaming, desktop UI implementation</a:t>
            </a:r>
            <a:endParaRPr sz="975" b="0" dirty="0">
              <a:solidFill>
                <a:srgbClr val="91A3B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5405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D895F3A-1D29-468C-BA22-5BED939E8B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8684F0-92E9-4503-B733-CF5AAA32AE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D1FA14-B5EE-4A4E-9E61-33328A30BE2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64FB47-76B6-47C5-A1BA-38920B292739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E2A18-814A-4AB8-A1D1-E1D45D35374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2177C5-4054-4A2D-AFE4-FD06CEDA708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0BCEB-E954-46A3-80D2-85B005B50EA2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879DDD-3B9E-4496-AE42-68AB2EFD592F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63D8F-E0BF-4071-BA7E-F6775CBBAE2D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4048A7-E951-41D9-AEEF-5D4FB204827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1E436-5F86-4D1E-89D3-A5F093375B8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45004-9230-473A-BAF8-AB1D73317832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FAFEC2-2AFE-479F-ADEF-A251A8D9F94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EBA7FA-C0E9-4BF3-B218-17E6B8FF837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18D5FB-556A-4F7C-BA15-E3C86748657C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36CE9-8210-4A16-B626-B9D5FAE87EB9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E8C4B1-2651-4B9B-AE26-194DA66DAC2A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26BA5-13B6-4865-AB4F-753D475DF8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E58185-537C-430F-BA93-126BC48911CA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D9819-1154-42C7-AF21-22334BFBB14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D1FBF4-5FE8-449B-B0CC-C2CCB4C27A0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F6B585-1F46-4BAF-8299-001EB8AA91E9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18DDBB-A17E-48FF-9690-766017B0D32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398BE8-8FD4-4E16-B8E8-3427851E242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8E6F4-FC24-470A-8B4F-25D5D0B3A78F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F36591-C83D-4A9D-ACEA-4A4DC259949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51710E-E14C-4818-9D47-6863E64B96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Section 1 / operation demo and V1-V2 delta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4F44F5-B3CE-4779-909B-0267488BC5F9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D2FDBD-7036-4636-92AD-3D2B9B9E5E8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E95904-A55C-4F58-B42A-6C96B1B3AF1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E5C619-5A68-4046-BD0E-331D08809D46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428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Maoz Brown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9572B3-3EE7-4A7A-8562-31AF482C09E8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expanded speaking block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EE97FE-0AD9-4D5D-8D5D-5D48D58C1984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7429500" cy="2476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97C70C-DD0C-48C3-9BB2-B96E53A5AF93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57150" cy="24765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4CC4FA-B3AF-4C98-8DF8-068708A896D3}"/>
              </a:ext>
            </a:extLst>
          </p:cNvPr>
          <p:cNvSpPr>
            <a:spLocks noGrp="1"/>
          </p:cNvSpPr>
          <p:nvPr/>
        </p:nvSpPr>
        <p:spPr>
          <a:xfrm>
            <a:off x="1123950" y="31146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83A44F-88C7-4C63-BB76-543AFA1AE0A8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Demonstrate the real V2 user flow from files to generated schedules.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EB59CB-7655-492D-B881-2E30C329B45D}"/>
              </a:ext>
            </a:extLst>
          </p:cNvPr>
          <p:cNvSpPr>
            <a:spLocks noGrp="1"/>
          </p:cNvSpPr>
          <p:nvPr/>
        </p:nvSpPr>
        <p:spPr>
          <a:xfrm>
            <a:off x="1123950" y="35718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C95918-44A3-47C4-9A73-4900065227B0}"/>
              </a:ext>
            </a:extLst>
          </p:cNvPr>
          <p:cNvSpPr>
            <a:spLocks noGrp="1"/>
          </p:cNvSpPr>
          <p:nvPr/>
        </p:nvSpPr>
        <p:spPr>
          <a:xfrm>
            <a:off x="1333500" y="34861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Explain what changed from V1 without re-explaining the whole project.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7D8BB8-A883-428C-9BFE-C34F513F8B45}"/>
              </a:ext>
            </a:extLst>
          </p:cNvPr>
          <p:cNvSpPr>
            <a:spLocks noGrp="1"/>
          </p:cNvSpPr>
          <p:nvPr/>
        </p:nvSpPr>
        <p:spPr>
          <a:xfrm>
            <a:off x="1123950" y="40290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A00C93-0F70-4035-8A6E-8D60C9BC01FC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Focus on desktop-only work: calendar edits, lazy output, local process execution.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BBD658-75BB-4211-BA3D-F1E54213F68A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2000250" cy="3333750"/>
          </a:xfrm>
          <a:prstGeom prst="rect">
            <a:avLst/>
          </a:prstGeom>
          <a:solidFill>
            <a:srgbClr val="223044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E90E99-322D-42CE-A632-60B58415CE54}"/>
              </a:ext>
            </a:extLst>
          </p:cNvPr>
          <p:cNvSpPr>
            <a:spLocks noGrp="1"/>
          </p:cNvSpPr>
          <p:nvPr/>
        </p:nvSpPr>
        <p:spPr>
          <a:xfrm>
            <a:off x="9163050" y="1981200"/>
            <a:ext cx="13906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AB440D-9668-4FE7-B33C-AE4D69C3C5EC}"/>
              </a:ext>
            </a:extLst>
          </p:cNvPr>
          <p:cNvSpPr>
            <a:spLocks noGrp="1"/>
          </p:cNvSpPr>
          <p:nvPr/>
        </p:nvSpPr>
        <p:spPr>
          <a:xfrm>
            <a:off x="9315450" y="3105150"/>
            <a:ext cx="110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98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C19B888-E5EC-4CE3-9E01-EF42FD6792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9A8D6C-9DF2-41BB-846D-8FE3CF15D6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A0BCD-3682-4185-A473-48F2E7D130A6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BE225-CD67-4677-B8A2-59FC37533A50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A73DA-D475-46F4-B2ED-7E1789D35768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B0736-1B89-49C8-BEE7-B89FFBEBED5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B76F83-9ABD-40D2-81B1-625FDB3A56C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4FD6-ECAD-4679-96EE-BF178029F7EF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2CD2A-E5D2-4E74-9765-8BA004934A02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8F8DEF-3B73-4DE9-8B48-449E96AA613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395511-5A53-41F2-ADB8-61198298A01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A4A508-E83F-4F63-83A6-853ED92D8C64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6C0AF-2075-4EDA-8010-D6E633A5F80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9FCD92-0425-41A8-BE2F-2D083C3915B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CE8BDC-ACE7-45EA-BE58-7DA88645AC94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FF66A0-EBAC-43A9-80E0-85720D3025F5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FC0F0-78E6-4FC4-BFAF-BBFEC899391E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590F6D-17A2-49C9-88B6-6E733C072D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5C0C92-08D2-49E6-B3D4-24B16E3ABAB1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E61B8A-40C7-4104-B6B5-F8B33EA632C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58C5D5-6E1B-4F6F-8694-58B470E44BF4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F5C09A-C7B5-4CFB-9AFB-060CE23D146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CC99C6-6745-446D-8E0D-D9071AD1E62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A809A6-BD5E-4BAA-A80B-930B7205D8DB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AE26C7-C03F-4FDB-AA65-075965A0F0B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548304-70DC-4EE7-B93D-36F4BF71EC44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ECF46E-BDE1-460F-88CC-0C57DCD3829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operation demo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857F27-B400-4A5C-8AD4-F9A3B3BDB439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B13BA0-A706-4033-9383-A0A906FF120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D41109-A05A-4EBF-9804-D8AD16D3898D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F2BEDA-5DA1-4668-933D-D54CA7B320D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demo follows one complete desktop journey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2832B5-4191-478E-BE11-742B785BF8D1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Show what the user actually does in V2; keep internals for the technical story.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FBD947-F893-499F-B09C-ED363536B0AD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1905000" cy="21717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442ABE-B85F-4CAE-867B-9575E8607D05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57150" cy="21717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B54548-B6A4-4C23-8A69-2EE3D6DA751B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Load files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32F186-B608-4B77-9B35-7A10CE14726B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485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Course catalog and exam-period files are loaded into UI state.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309A9-9363-4BCF-9BF9-DEFD08256FEA}"/>
              </a:ext>
            </a:extLst>
          </p:cNvPr>
          <p:cNvSpPr>
            <a:spLocks noGrp="1"/>
          </p:cNvSpPr>
          <p:nvPr/>
        </p:nvSpPr>
        <p:spPr>
          <a:xfrm>
            <a:off x="2667000" y="3390900"/>
            <a:ext cx="381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D89F930C-93AE-42B0-B19E-BBB31B2D8341}"/>
              </a:ext>
            </a:extLst>
          </p:cNvPr>
          <p:cNvSpPr>
            <a:spLocks noGrp="1"/>
          </p:cNvSpPr>
          <p:nvPr/>
        </p:nvSpPr>
        <p:spPr>
          <a:xfrm>
            <a:off x="2705100" y="33337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462EEC-8C47-4322-B314-3009F8F22B15}"/>
              </a:ext>
            </a:extLst>
          </p:cNvPr>
          <p:cNvSpPr>
            <a:spLocks noGrp="1"/>
          </p:cNvSpPr>
          <p:nvPr/>
        </p:nvSpPr>
        <p:spPr>
          <a:xfrm>
            <a:off x="2876550" y="2343150"/>
            <a:ext cx="1905000" cy="21717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35F0FB-B16F-441E-A06A-781DBA86CCC9}"/>
              </a:ext>
            </a:extLst>
          </p:cNvPr>
          <p:cNvSpPr>
            <a:spLocks noGrp="1"/>
          </p:cNvSpPr>
          <p:nvPr/>
        </p:nvSpPr>
        <p:spPr>
          <a:xfrm>
            <a:off x="2876550" y="2343150"/>
            <a:ext cx="57150" cy="21717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BA6EFE-8EA9-47B2-B9A3-3C44F2571FE8}"/>
              </a:ext>
            </a:extLst>
          </p:cNvPr>
          <p:cNvSpPr>
            <a:spLocks noGrp="1"/>
          </p:cNvSpPr>
          <p:nvPr/>
        </p:nvSpPr>
        <p:spPr>
          <a:xfrm>
            <a:off x="3086100" y="251460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Select programs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505ECB-A2D2-42E2-B9FA-E5F14B68163B}"/>
              </a:ext>
            </a:extLst>
          </p:cNvPr>
          <p:cNvSpPr>
            <a:spLocks noGrp="1"/>
          </p:cNvSpPr>
          <p:nvPr/>
        </p:nvSpPr>
        <p:spPr>
          <a:xfrm>
            <a:off x="3086100" y="3067050"/>
            <a:ext cx="1485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Checkbox list enforces the selected-study-program limit.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7DC29A-7669-4750-BDC9-06690343EC8C}"/>
              </a:ext>
            </a:extLst>
          </p:cNvPr>
          <p:cNvSpPr>
            <a:spLocks noGrp="1"/>
          </p:cNvSpPr>
          <p:nvPr/>
        </p:nvSpPr>
        <p:spPr>
          <a:xfrm>
            <a:off x="4838700" y="3390900"/>
            <a:ext cx="381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85A47B8B-4BA8-4C21-8716-0C5BC32D3862}"/>
              </a:ext>
            </a:extLst>
          </p:cNvPr>
          <p:cNvSpPr>
            <a:spLocks noGrp="1"/>
          </p:cNvSpPr>
          <p:nvPr/>
        </p:nvSpPr>
        <p:spPr>
          <a:xfrm>
            <a:off x="4876800" y="33337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F724515-CECA-46CC-BFAB-C3D3D20BB6B5}"/>
              </a:ext>
            </a:extLst>
          </p:cNvPr>
          <p:cNvSpPr>
            <a:spLocks noGrp="1"/>
          </p:cNvSpPr>
          <p:nvPr/>
        </p:nvSpPr>
        <p:spPr>
          <a:xfrm>
            <a:off x="5048250" y="2343150"/>
            <a:ext cx="1905000" cy="21717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74BDF1-C029-496E-A283-A777B1BDB94E}"/>
              </a:ext>
            </a:extLst>
          </p:cNvPr>
          <p:cNvSpPr>
            <a:spLocks noGrp="1"/>
          </p:cNvSpPr>
          <p:nvPr/>
        </p:nvSpPr>
        <p:spPr>
          <a:xfrm>
            <a:off x="5048250" y="2343150"/>
            <a:ext cx="57150" cy="21717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DEAE55-213F-44CB-B1C8-8F1D621C2D5B}"/>
              </a:ext>
            </a:extLst>
          </p:cNvPr>
          <p:cNvSpPr>
            <a:spLocks noGrp="1"/>
          </p:cNvSpPr>
          <p:nvPr/>
        </p:nvSpPr>
        <p:spPr>
          <a:xfrm>
            <a:off x="5257800" y="251460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Edit calendar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E56DBE-B5D4-43E2-8CF9-2F15F35EA6FC}"/>
              </a:ext>
            </a:extLst>
          </p:cNvPr>
          <p:cNvSpPr>
            <a:spLocks noGrp="1"/>
          </p:cNvSpPr>
          <p:nvPr/>
        </p:nvSpPr>
        <p:spPr>
          <a:xfrm>
            <a:off x="5257800" y="3067050"/>
            <a:ext cx="1485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Users exclude/restore days or change period boundaries.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5EC61A-281A-4142-8A7C-86170F0B1CEF}"/>
              </a:ext>
            </a:extLst>
          </p:cNvPr>
          <p:cNvSpPr>
            <a:spLocks noGrp="1"/>
          </p:cNvSpPr>
          <p:nvPr/>
        </p:nvSpPr>
        <p:spPr>
          <a:xfrm>
            <a:off x="7010400" y="3390900"/>
            <a:ext cx="381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8F03C062-5303-401C-98A4-A9E40C65D11C}"/>
              </a:ext>
            </a:extLst>
          </p:cNvPr>
          <p:cNvSpPr>
            <a:spLocks noGrp="1"/>
          </p:cNvSpPr>
          <p:nvPr/>
        </p:nvSpPr>
        <p:spPr>
          <a:xfrm>
            <a:off x="7048500" y="33337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58F45D-B48B-42D3-905C-3A933AEAB94E}"/>
              </a:ext>
            </a:extLst>
          </p:cNvPr>
          <p:cNvSpPr>
            <a:spLocks noGrp="1"/>
          </p:cNvSpPr>
          <p:nvPr/>
        </p:nvSpPr>
        <p:spPr>
          <a:xfrm>
            <a:off x="7219950" y="2343150"/>
            <a:ext cx="1905000" cy="21717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55DEC2-5D6D-496B-BE1C-C0DD1C68D7E6}"/>
              </a:ext>
            </a:extLst>
          </p:cNvPr>
          <p:cNvSpPr>
            <a:spLocks noGrp="1"/>
          </p:cNvSpPr>
          <p:nvPr/>
        </p:nvSpPr>
        <p:spPr>
          <a:xfrm>
            <a:off x="7219950" y="2343150"/>
            <a:ext cx="57150" cy="21717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7DB715-7914-4C22-9ED7-291048DDBD8F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DA42FD-4ECA-4176-8483-93653E8BADBF}"/>
              </a:ext>
            </a:extLst>
          </p:cNvPr>
          <p:cNvSpPr>
            <a:spLocks noGrp="1"/>
          </p:cNvSpPr>
          <p:nvPr/>
        </p:nvSpPr>
        <p:spPr>
          <a:xfrm>
            <a:off x="7429500" y="3067050"/>
            <a:ext cx="1485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The GUI launches main.py with QProcess and lazy schedules.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1ED952-9BCA-4BE8-B68A-C3714498E058}"/>
              </a:ext>
            </a:extLst>
          </p:cNvPr>
          <p:cNvSpPr>
            <a:spLocks noGrp="1"/>
          </p:cNvSpPr>
          <p:nvPr/>
        </p:nvSpPr>
        <p:spPr>
          <a:xfrm>
            <a:off x="9182100" y="3390900"/>
            <a:ext cx="381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0C116591-C8E9-4879-8AB8-D684BF82225B}"/>
              </a:ext>
            </a:extLst>
          </p:cNvPr>
          <p:cNvSpPr>
            <a:spLocks noGrp="1"/>
          </p:cNvSpPr>
          <p:nvPr/>
        </p:nvSpPr>
        <p:spPr>
          <a:xfrm>
            <a:off x="9220200" y="33337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1602D2B-9D2C-4AD8-ADB8-4B08C7D72801}"/>
              </a:ext>
            </a:extLst>
          </p:cNvPr>
          <p:cNvSpPr>
            <a:spLocks noGrp="1"/>
          </p:cNvSpPr>
          <p:nvPr/>
        </p:nvSpPr>
        <p:spPr>
          <a:xfrm>
            <a:off x="9391650" y="2343150"/>
            <a:ext cx="1905000" cy="21717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4B514B7-9929-4546-A069-6DE3917A7217}"/>
              </a:ext>
            </a:extLst>
          </p:cNvPr>
          <p:cNvSpPr>
            <a:spLocks noGrp="1"/>
          </p:cNvSpPr>
          <p:nvPr/>
        </p:nvSpPr>
        <p:spPr>
          <a:xfrm>
            <a:off x="9391650" y="2343150"/>
            <a:ext cx="57150" cy="21717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DFD579-0065-43BF-B07F-EEE019445B5C}"/>
              </a:ext>
            </a:extLst>
          </p:cNvPr>
          <p:cNvSpPr>
            <a:spLocks noGrp="1"/>
          </p:cNvSpPr>
          <p:nvPr/>
        </p:nvSpPr>
        <p:spPr>
          <a:xfrm>
            <a:off x="9601200" y="251460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Inspect/save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3B01E1-929B-4B32-940D-A6AF975F7581}"/>
              </a:ext>
            </a:extLst>
          </p:cNvPr>
          <p:cNvSpPr>
            <a:spLocks noGrp="1"/>
          </p:cNvSpPr>
          <p:nvPr/>
        </p:nvSpPr>
        <p:spPr>
          <a:xfrm>
            <a:off x="9601200" y="3067050"/>
            <a:ext cx="1485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One schedule at a time is shown and can be saved.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CA493E-58CB-46D5-950E-1DD92DDB4A7E}"/>
              </a:ext>
            </a:extLst>
          </p:cNvPr>
          <p:cNvSpPr>
            <a:spLocks noGrp="1"/>
          </p:cNvSpPr>
          <p:nvPr/>
        </p:nvSpPr>
        <p:spPr>
          <a:xfrm>
            <a:off x="1333500" y="5143500"/>
            <a:ext cx="9525000" cy="533400"/>
          </a:xfrm>
          <a:prstGeom prst="rect">
            <a:avLst/>
          </a:prstGeom>
          <a:solidFill>
            <a:srgbClr val="223044"/>
          </a:solidFill>
          <a:ln w="9525">
            <a:solidFill>
              <a:srgbClr val="F7B955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78DC934-5889-4D0F-9EEF-6520B2367B07}"/>
              </a:ext>
            </a:extLst>
          </p:cNvPr>
          <p:cNvSpPr>
            <a:spLocks noGrp="1"/>
          </p:cNvSpPr>
          <p:nvPr/>
        </p:nvSpPr>
        <p:spPr>
          <a:xfrm>
            <a:off x="1619250" y="5314950"/>
            <a:ext cx="895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Live fallback: .\.venv\Scripts\python.exe main.py --mode complete-count -&gt; 76,032 complete systems</a:t>
            </a:r>
          </a:p>
        </p:txBody>
      </p:sp>
    </p:spTree>
    <p:extLst>
      <p:ext uri="{BB962C8B-B14F-4D97-AF65-F5344CB8AC3E}">
        <p14:creationId xmlns:p14="http://schemas.microsoft.com/office/powerpoint/2010/main" val="682815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156EC36C-5B3E-458A-89BE-C48F55E07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6944B-F027-4F53-A147-FA0EE8BE89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5E0C2-D491-4ADE-A4B7-E7BF4BCFDC35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5651C0-A913-4D5D-8E29-A09749C746D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B595C-65AC-4770-B526-6C31A9F0FDF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181BC8-874C-43F5-BAFC-E2AB089FCE55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8EC13-FB6A-4E0A-B175-D5339AD26D2F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0626F-1211-4A9E-8C1B-DF6F51CC533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1D7E54-0AC1-450F-B8F7-9F08F863B9C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023417-E2E6-4E29-A5B3-8ABDA640FE6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C2417-616D-47E1-87AA-36A0E140BEA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B4A4D4-1EB4-4E83-8F97-D18ACC878195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241AF5-3E04-4F76-A6CE-6A4E6CD226E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2653FF-4FF9-4EFE-A72F-25B0A327F62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D57F35-FFC4-4BB7-AB29-5D90F273475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1DB95-897F-49B0-985C-BD73361F0772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6BF53-B549-45B0-9B6C-476532E881FC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51A6C5-8643-45EC-A49F-BBF2819409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CC7A7-AA7E-461C-A197-0AF331EF627F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E55C62-5F08-4664-89A9-BAC936AF6A9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7D5CBB-A01F-4D3F-83B4-573615CE2C9C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1DE872-2FEC-445B-A1E6-7171FA8513A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28A647-F985-4C36-BFDF-3B19740711E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8F35B7-6415-4A01-A072-AC6943B10A7D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C73ED7-76ED-4B84-A4A3-2BC2EB1006F7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2EA580-5A4F-4518-9C47-195FF05CB9D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9E65AB-0541-4A41-AC83-C13A365810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V2 vs V1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227A31-808D-4973-A124-296022EA1F4F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B16A4-ADEE-476A-9135-A27CC5D8308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A78EDE-DD61-4EA9-918F-9C9154815E0F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07C285-953D-4910-AD4B-6DA74FA1015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V2 changed the interaction model, not the scheduling rule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B47989-B352-40C8-9C8B-3E567A4EADFB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V1 engine remains the trusted backend; V2 makes it a standalone desktop workflow.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8F228A-331E-46CA-B6D9-529BAFBE64C9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438150"/>
          </a:xfrm>
          <a:prstGeom prst="rect">
            <a:avLst/>
          </a:prstGeom>
          <a:solidFill>
            <a:srgbClr val="27364B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D746F2-E919-4CAA-84F0-DABD551FD812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3668B2-05E8-4C69-8B6B-3C7560A695B2}"/>
              </a:ext>
            </a:extLst>
          </p:cNvPr>
          <p:cNvSpPr>
            <a:spLocks noGrp="1"/>
          </p:cNvSpPr>
          <p:nvPr/>
        </p:nvSpPr>
        <p:spPr>
          <a:xfrm>
            <a:off x="44132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Version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F387C7-0CC0-487A-9EEB-7A17ECCBF5C6}"/>
              </a:ext>
            </a:extLst>
          </p:cNvPr>
          <p:cNvSpPr>
            <a:spLocks noGrp="1"/>
          </p:cNvSpPr>
          <p:nvPr/>
        </p:nvSpPr>
        <p:spPr>
          <a:xfrm>
            <a:off x="80073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Version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C409E4-F5CF-4CD6-BEFF-89713C996A05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AA4193-CA01-48D2-9B59-F3BF7171C85B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C94886-48AF-46CD-8D79-A37EE35E089F}"/>
              </a:ext>
            </a:extLst>
          </p:cNvPr>
          <p:cNvSpPr>
            <a:spLocks noGrp="1"/>
          </p:cNvSpPr>
          <p:nvPr/>
        </p:nvSpPr>
        <p:spPr>
          <a:xfrm>
            <a:off x="4432300" y="26289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Command line modes and config files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EFDCD6-B228-4BC2-BAC4-5DE6205AB350}"/>
              </a:ext>
            </a:extLst>
          </p:cNvPr>
          <p:cNvSpPr>
            <a:spLocks noGrp="1"/>
          </p:cNvSpPr>
          <p:nvPr/>
        </p:nvSpPr>
        <p:spPr>
          <a:xfrm>
            <a:off x="8026400" y="26289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PyQt6 desktop shell with file loader, program list, calendar, output view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5FE837-4785-47DF-AD93-180238CCEC7C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10782300" cy="72390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A41C66-9570-4A4C-A29B-5399CC50F2D1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D6642-AD32-4993-B518-5DE3357C9BD9}"/>
              </a:ext>
            </a:extLst>
          </p:cNvPr>
          <p:cNvSpPr>
            <a:spLocks noGrp="1"/>
          </p:cNvSpPr>
          <p:nvPr/>
        </p:nvSpPr>
        <p:spPr>
          <a:xfrm>
            <a:off x="4432300" y="33528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Programs.txt and static config paths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59A7C8-7781-4F8A-859F-6D5AC4DD98BA}"/>
              </a:ext>
            </a:extLst>
          </p:cNvPr>
          <p:cNvSpPr>
            <a:spLocks noGrp="1"/>
          </p:cNvSpPr>
          <p:nvPr/>
        </p:nvSpPr>
        <p:spPr>
          <a:xfrm>
            <a:off x="8026400" y="33528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Runtime files generated from selected UI state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026456-3FC2-43BE-AE1D-9ED6B3DA6451}"/>
              </a:ext>
            </a:extLst>
          </p:cNvPr>
          <p:cNvSpPr>
            <a:spLocks noGrp="1"/>
          </p:cNvSpPr>
          <p:nvPr/>
        </p:nvSpPr>
        <p:spPr>
          <a:xfrm>
            <a:off x="704850" y="39814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2DD7B1-2048-4065-9A70-EEFABBF42FCF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2DCFE8-CBE1-47FE-8AF9-291F3F3A1980}"/>
              </a:ext>
            </a:extLst>
          </p:cNvPr>
          <p:cNvSpPr>
            <a:spLocks noGrp="1"/>
          </p:cNvSpPr>
          <p:nvPr/>
        </p:nvSpPr>
        <p:spPr>
          <a:xfrm>
            <a:off x="4432300" y="40767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main.py calls workflow directly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E9FCBB-F5CC-4A5C-A096-CDED6F1E9E02}"/>
              </a:ext>
            </a:extLst>
          </p:cNvPr>
          <p:cNvSpPr>
            <a:spLocks noGrp="1"/>
          </p:cNvSpPr>
          <p:nvPr/>
        </p:nvSpPr>
        <p:spPr>
          <a:xfrm>
            <a:off x="8026400" y="40767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ProcessRunner starts main.py through QProcess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EEEFEB-8B76-416E-B588-F8BD35D66177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10782300" cy="72390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66F47F-F112-4E65-8C1D-69AA64E1D1FB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002BC38-A121-4609-B465-E0936E38082E}"/>
              </a:ext>
            </a:extLst>
          </p:cNvPr>
          <p:cNvSpPr>
            <a:spLocks noGrp="1"/>
          </p:cNvSpPr>
          <p:nvPr/>
        </p:nvSpPr>
        <p:spPr>
          <a:xfrm>
            <a:off x="4432300" y="48006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Text file / terminal result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D6EB27-CBB9-4510-B714-64FA066E1C9B}"/>
              </a:ext>
            </a:extLst>
          </p:cNvPr>
          <p:cNvSpPr>
            <a:spLocks noGrp="1"/>
          </p:cNvSpPr>
          <p:nvPr/>
        </p:nvSpPr>
        <p:spPr>
          <a:xfrm>
            <a:off x="8026400" y="48006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preview, lazy paging, save selected schedule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FCF474-CD0F-4FBF-921C-5ECB7566759C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FAE257-C6F6-496E-B965-A7F7DD899E2E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Primary risk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2D6DFB-B3DF-4623-8877-722535A1437E}"/>
              </a:ext>
            </a:extLst>
          </p:cNvPr>
          <p:cNvSpPr>
            <a:spLocks noGrp="1"/>
          </p:cNvSpPr>
          <p:nvPr/>
        </p:nvSpPr>
        <p:spPr>
          <a:xfrm>
            <a:off x="4432300" y="55245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Algorithm correctness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912C9B-7566-47A6-9840-C122BA2EBDF8}"/>
              </a:ext>
            </a:extLst>
          </p:cNvPr>
          <p:cNvSpPr>
            <a:spLocks noGrp="1"/>
          </p:cNvSpPr>
          <p:nvPr/>
        </p:nvSpPr>
        <p:spPr>
          <a:xfrm>
            <a:off x="8026400" y="55245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Responsiveness, boundaries, text protocol, stale cache</a:t>
            </a:r>
          </a:p>
        </p:txBody>
      </p:sp>
    </p:spTree>
    <p:extLst>
      <p:ext uri="{BB962C8B-B14F-4D97-AF65-F5344CB8AC3E}">
        <p14:creationId xmlns:p14="http://schemas.microsoft.com/office/powerpoint/2010/main" val="121223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ED464715-5A6D-42E3-BA16-0052519C7B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6A4EB-6C58-48F1-946D-42FA600D83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22278-0E3D-4DCF-991C-D239DBC1022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A3B5B0-DB5F-4A7E-94A0-DA579215C356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851E0-1062-4624-A898-F60CC217373C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DBECF8-34CA-4055-8E9D-B99728C0E59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049FCC-AA1D-4FF8-9873-5EF404304AE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CC2BB-DBF5-4735-948C-E1DA7A596EE4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C458E-74EB-46F0-9197-1BBA83FF7EC6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B5B16E-5FB4-4B04-9DC9-3DFA4D2DC2B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D3C96A-4635-42B3-88EA-C3BA31870514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98752-651F-4989-994A-148DB3B466D0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FAF231-2AA4-4A4E-B91D-14293698035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50C3F-E2CD-4767-881E-333C62F90A1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5E4A6F-7C07-4DFF-B220-21863405718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ABC63D-4F68-497F-AB72-03F193A3636B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B13132-3B12-4FE1-9DD4-FD273B72EF05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1EB4B-947D-4AAD-8191-2B1BFEEF1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72B4E1-80A6-4112-8D42-9E389D4D503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302CDE-54D4-43DF-827D-F0031D8311E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AABE1A-CF08-417E-8A2E-5D327F4D25DA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63264-DE6D-4887-B215-2CE6D38D5D30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5C2295-6088-4895-8EC7-E896AF27904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ADFEBB-508A-4E60-8AAE-81363D17E55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0A9F65-6577-442C-8CDB-54B2C592EE1A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D5CE9A-8BF3-4DC6-B5EA-389F3801F0D1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62778C-926C-4B89-BF48-F6ABB60FDF0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product surface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9FB6B8-EC0B-43A9-A739-D33ADE271A46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FB02F2-EC08-44A7-A9FA-BCC698D755F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F024B8-ACE6-4EEF-9AA2-85D678CD761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0D16DD-593D-448C-AD46-6F253553EA7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V2 surface controls inputs before the expensive run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0A258C-0962-4972-AEF7-86818ADB7383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These are the system parts worth demonstrating.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41C3FD-5C94-4C16-A7A7-88DF173F4AF9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E4EC49-A6A8-4CA3-BF3A-CE0045254005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FE8AD3-5F23-4F7D-AF81-C847D220FADF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File loading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07F0E3-41DB-4D18-AEB1-736B9B76A9E4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E57BE95-4271-4B02-A99F-BBC62C70B64A}"/>
              </a:ext>
            </a:extLst>
          </p:cNvPr>
          <p:cNvSpPr>
            <a:spLocks noGrp="1"/>
          </p:cNvSpPr>
          <p:nvPr/>
        </p:nvSpPr>
        <p:spPr>
          <a:xfrm>
            <a:off x="135255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replace or update data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631DAE-8AD1-4F01-95D7-807E4BAF1D45}"/>
              </a:ext>
            </a:extLst>
          </p:cNvPr>
          <p:cNvSpPr>
            <a:spLocks noGrp="1"/>
          </p:cNvSpPr>
          <p:nvPr/>
        </p:nvSpPr>
        <p:spPr>
          <a:xfrm>
            <a:off x="114300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E3D977-47D5-4C1E-BCF4-BB6390BFBE16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cache processed files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53F7E1-645B-4297-B626-7BD11259F396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DDCA2E-138A-4BC3-98E4-95F7CE12BA19}"/>
              </a:ext>
            </a:extLst>
          </p:cNvPr>
          <p:cNvSpPr>
            <a:spLocks noGrp="1"/>
          </p:cNvSpPr>
          <p:nvPr/>
        </p:nvSpPr>
        <p:spPr>
          <a:xfrm>
            <a:off x="135255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detect stale sources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C80AAB-457E-4566-A6F4-CD77E85BAF83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E286E3-52E3-4BAD-9659-F22AFC354F02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D23D58-058F-42BB-8580-D6B65EF798B2}"/>
              </a:ext>
            </a:extLst>
          </p:cNvPr>
          <p:cNvSpPr>
            <a:spLocks noGrp="1"/>
          </p:cNvSpPr>
          <p:nvPr/>
        </p:nvSpPr>
        <p:spPr>
          <a:xfrm>
            <a:off x="378142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Program selection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D9BD2BD-4536-43C7-8642-6ACE37683EC6}"/>
              </a:ext>
            </a:extLst>
          </p:cNvPr>
          <p:cNvSpPr>
            <a:spLocks noGrp="1"/>
          </p:cNvSpPr>
          <p:nvPr/>
        </p:nvSpPr>
        <p:spPr>
          <a:xfrm>
            <a:off x="3800475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3AE8C03-3B5B-41D3-8B49-FFDC472D6C95}"/>
              </a:ext>
            </a:extLst>
          </p:cNvPr>
          <p:cNvSpPr>
            <a:spLocks noGrp="1"/>
          </p:cNvSpPr>
          <p:nvPr/>
        </p:nvSpPr>
        <p:spPr>
          <a:xfrm>
            <a:off x="401002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discover program IDs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D34CD8-CDBD-4EEC-BFD3-052F3F064231}"/>
              </a:ext>
            </a:extLst>
          </p:cNvPr>
          <p:cNvSpPr>
            <a:spLocks noGrp="1"/>
          </p:cNvSpPr>
          <p:nvPr/>
        </p:nvSpPr>
        <p:spPr>
          <a:xfrm>
            <a:off x="3800475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C690DD9-4A47-46C1-916D-AC6B1B88D1A4}"/>
              </a:ext>
            </a:extLst>
          </p:cNvPr>
          <p:cNvSpPr>
            <a:spLocks noGrp="1"/>
          </p:cNvSpPr>
          <p:nvPr/>
        </p:nvSpPr>
        <p:spPr>
          <a:xfrm>
            <a:off x="401002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limit choices to five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60B365-9FD6-4600-B991-656EE5020F5C}"/>
              </a:ext>
            </a:extLst>
          </p:cNvPr>
          <p:cNvSpPr>
            <a:spLocks noGrp="1"/>
          </p:cNvSpPr>
          <p:nvPr/>
        </p:nvSpPr>
        <p:spPr>
          <a:xfrm>
            <a:off x="3800475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53D52C-156F-469D-85EF-29EB9F73338F}"/>
              </a:ext>
            </a:extLst>
          </p:cNvPr>
          <p:cNvSpPr>
            <a:spLocks noGrp="1"/>
          </p:cNvSpPr>
          <p:nvPr/>
        </p:nvSpPr>
        <p:spPr>
          <a:xfrm>
            <a:off x="401002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show selected-course details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571168-4B45-4603-9991-9846D7E7A31B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6C1F63-A4B7-4141-B09B-2806929FE54E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780B4A-78AB-4E59-897B-B5570A61028C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Calendar edits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12ABE9-B648-4B23-A2BC-44419DB109A5}"/>
              </a:ext>
            </a:extLst>
          </p:cNvPr>
          <p:cNvSpPr>
            <a:spLocks noGrp="1"/>
          </p:cNvSpPr>
          <p:nvPr/>
        </p:nvSpPr>
        <p:spPr>
          <a:xfrm>
            <a:off x="6457950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0E528C-F103-4DD8-9B81-55C887763B32}"/>
              </a:ext>
            </a:extLst>
          </p:cNvPr>
          <p:cNvSpPr>
            <a:spLocks noGrp="1"/>
          </p:cNvSpPr>
          <p:nvPr/>
        </p:nvSpPr>
        <p:spPr>
          <a:xfrm>
            <a:off x="666750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view periods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5ACA14A-AEA9-4858-AB70-B2DB3B1794B5}"/>
              </a:ext>
            </a:extLst>
          </p:cNvPr>
          <p:cNvSpPr>
            <a:spLocks noGrp="1"/>
          </p:cNvSpPr>
          <p:nvPr/>
        </p:nvSpPr>
        <p:spPr>
          <a:xfrm>
            <a:off x="6457950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5F3EFC-E7A6-4639-885D-8B2BA560F865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exclude / restore dates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76A7F1-755C-44D0-A4B6-1EBAB93BBC2B}"/>
              </a:ext>
            </a:extLst>
          </p:cNvPr>
          <p:cNvSpPr>
            <a:spLocks noGrp="1"/>
          </p:cNvSpPr>
          <p:nvPr/>
        </p:nvSpPr>
        <p:spPr>
          <a:xfrm>
            <a:off x="6457950" y="36671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C4E419-F903-46B2-B718-81FCCA4E4664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edit start and end dates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4878908-B3F5-4C32-B2C7-33349097DF18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153DCA-31C6-41E1-9D4B-BA55A1E5F7D7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3DAA684-7BDA-4037-8EC7-0426958B3337}"/>
              </a:ext>
            </a:extLst>
          </p:cNvPr>
          <p:cNvSpPr>
            <a:spLocks noGrp="1"/>
          </p:cNvSpPr>
          <p:nvPr/>
        </p:nvSpPr>
        <p:spPr>
          <a:xfrm>
            <a:off x="909637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Output screen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BAC1D62-30C7-4EA2-9FDA-B7202D8D4EA8}"/>
              </a:ext>
            </a:extLst>
          </p:cNvPr>
          <p:cNvSpPr>
            <a:spLocks noGrp="1"/>
          </p:cNvSpPr>
          <p:nvPr/>
        </p:nvSpPr>
        <p:spPr>
          <a:xfrm>
            <a:off x="9115425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5233EED-1215-44D2-81D0-7952E30CBFD6}"/>
              </a:ext>
            </a:extLst>
          </p:cNvPr>
          <p:cNvSpPr>
            <a:spLocks noGrp="1"/>
          </p:cNvSpPr>
          <p:nvPr/>
        </p:nvSpPr>
        <p:spPr>
          <a:xfrm>
            <a:off x="932497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one schedule at a time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9741D05-E9F1-4612-A367-AE51D2FAF69A}"/>
              </a:ext>
            </a:extLst>
          </p:cNvPr>
          <p:cNvSpPr>
            <a:spLocks noGrp="1"/>
          </p:cNvSpPr>
          <p:nvPr/>
        </p:nvSpPr>
        <p:spPr>
          <a:xfrm>
            <a:off x="9115425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FC3C6CC-DEFF-4CBF-A9CE-18F9818BAD86}"/>
              </a:ext>
            </a:extLst>
          </p:cNvPr>
          <p:cNvSpPr>
            <a:spLocks noGrp="1"/>
          </p:cNvSpPr>
          <p:nvPr/>
        </p:nvSpPr>
        <p:spPr>
          <a:xfrm>
            <a:off x="932497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lazy next page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1B38756-4035-4966-87B6-0EE707DB166C}"/>
              </a:ext>
            </a:extLst>
          </p:cNvPr>
          <p:cNvSpPr>
            <a:spLocks noGrp="1"/>
          </p:cNvSpPr>
          <p:nvPr/>
        </p:nvSpPr>
        <p:spPr>
          <a:xfrm>
            <a:off x="9115425" y="36671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E0E18F-7E90-491C-8182-00E77370585E}"/>
              </a:ext>
            </a:extLst>
          </p:cNvPr>
          <p:cNvSpPr>
            <a:spLocks noGrp="1"/>
          </p:cNvSpPr>
          <p:nvPr/>
        </p:nvSpPr>
        <p:spPr>
          <a:xfrm>
            <a:off x="932497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save readable schedule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E0B6B38-FE28-4EF9-8DE3-636F5EBA6763}"/>
              </a:ext>
            </a:extLst>
          </p:cNvPr>
          <p:cNvSpPr>
            <a:spLocks noGrp="1"/>
          </p:cNvSpPr>
          <p:nvPr/>
        </p:nvSpPr>
        <p:spPr>
          <a:xfrm>
            <a:off x="1676400" y="5429250"/>
            <a:ext cx="8839200" cy="41910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44C939C-F766-4D18-B37B-60F5D436638A}"/>
              </a:ext>
            </a:extLst>
          </p:cNvPr>
          <p:cNvSpPr>
            <a:spLocks noGrp="1"/>
          </p:cNvSpPr>
          <p:nvPr/>
        </p:nvSpPr>
        <p:spPr>
          <a:xfrm>
            <a:off x="1962150" y="5543550"/>
            <a:ext cx="8267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V2 is a safer workflow around the existing rule.</a:t>
            </a:r>
          </a:p>
        </p:txBody>
      </p:sp>
    </p:spTree>
    <p:extLst>
      <p:ext uri="{BB962C8B-B14F-4D97-AF65-F5344CB8AC3E}">
        <p14:creationId xmlns:p14="http://schemas.microsoft.com/office/powerpoint/2010/main" val="143112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142FBCC0-1230-494B-B50C-1241081FA3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967C09-865A-4330-88FB-00D2617B23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26875-69A7-4CE1-8337-8C673DD4DF93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BFAB46-91BA-4035-898B-8BEB1A29B42E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723877-A10E-4949-A011-30E068551792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A858A-FE0A-498F-BD27-8AC86662BE55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D36AB-83D4-4DE9-993D-FCBFADB39AFF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DDF8B-8703-4835-A1EA-AC3AC8570EB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01A5A-78E2-4196-B49B-095B9BEDD75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2BC150-C684-4069-A2AD-8BCAE3255FC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E6E2DD-A2F7-4026-B341-BEE371FC75A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80B713-E4E2-4817-8874-B995DBB849F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EAE10-8E68-415C-A1B9-79D92ED6D83D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66D730-E79A-4D26-872B-D959FA13E91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704F9F-4B0B-4016-9064-A320EDDDA75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8E1B53-2EAA-49BE-8FA4-9455EAA12B24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576BD3-9BC2-4CCC-B245-F90FAFB8DDD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0BFA1F-CA1A-4DD3-9C7D-69A8CF91DF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22A9D3-AA10-438E-8EAE-02A966B24DBA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32B9F0-07C4-4B91-8BE7-7D188CFD5F6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D23183-5C0B-46B4-A035-93DA675D4B9B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E52B9A-6D2D-4C18-AD33-1C18F8A6B2F2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9410EC-D7DC-474D-912A-264DA99AB05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79555A-B6CE-4853-B8C7-DE455D704FD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7F0B9D-7C86-4B55-8857-8DABA3638B0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74FB66-A8B8-47FF-8891-3E2F019D718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11F17A-46F0-44C5-B37C-B0B95553F6B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demo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1F1AE8-601B-41F1-ABB0-4177D9B57CB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E779F5-E26C-4ADA-8438-3109CD4D80E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76D666-1865-4893-B730-392A8CFCAEBF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3A198D-3B3D-4D00-AA10-E35D9097084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demo has concrete output to anchor the discussion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5237EE-E257-4839-B616-5651A5600BA0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Current default input files generate a small enough count for a reliable live demonstration.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CD63FA-3D27-4D40-A2CD-59DB520042C5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B5722D-6195-4D54-BC8A-D958CF2726C0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57150" cy="14668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CE6C8E-4EFA-4D23-BDDD-6005548AA40A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1,056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33FD1D-0EB6-414E-8C7C-1D22F7071580}"/>
              </a:ext>
            </a:extLst>
          </p:cNvPr>
          <p:cNvSpPr>
            <a:spLocks noGrp="1"/>
          </p:cNvSpPr>
          <p:nvPr/>
        </p:nvSpPr>
        <p:spPr>
          <a:xfrm>
            <a:off x="952500" y="2933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period #0 schedules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93573E-724D-41B0-B995-06F7B64A9D5B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from 2 courses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2ABE5F-BCC5-4E31-8247-4ECE5B8118A3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64C6AF-90D1-48D6-85FF-BFB648B375C5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57150" cy="14668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CDB948-08F3-43C7-9EBC-34720A1B3145}"/>
              </a:ext>
            </a:extLst>
          </p:cNvPr>
          <p:cNvSpPr>
            <a:spLocks noGrp="1"/>
          </p:cNvSpPr>
          <p:nvPr/>
        </p:nvSpPr>
        <p:spPr>
          <a:xfrm>
            <a:off x="3714750" y="24574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F7DF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F7DF0"/>
                </a:solidFill>
                <a:latin typeface="Aptos Display"/>
                <a:ea typeface="Aptos Display"/>
                <a:cs typeface="Aptos Display"/>
              </a:rPr>
              <a:t>72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032B0C-6DA6-4BAD-B71E-516E8FDD7619}"/>
              </a:ext>
            </a:extLst>
          </p:cNvPr>
          <p:cNvSpPr>
            <a:spLocks noGrp="1"/>
          </p:cNvSpPr>
          <p:nvPr/>
        </p:nvSpPr>
        <p:spPr>
          <a:xfrm>
            <a:off x="3714750" y="2933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period #1 schedules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9AAC55-57D8-4DF1-B150-FE473C2B5D97}"/>
              </a:ext>
            </a:extLst>
          </p:cNvPr>
          <p:cNvSpPr>
            <a:spLocks noGrp="1"/>
          </p:cNvSpPr>
          <p:nvPr/>
        </p:nvSpPr>
        <p:spPr>
          <a:xfrm>
            <a:off x="3714750" y="32004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from 2 courses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764A60-E013-47D2-95A7-B4E8D626D9D4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A05F08-21EF-4B33-9CC1-E1778314653A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57150" cy="14668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778006-9E71-428F-97EB-04F6882B6ED8}"/>
              </a:ext>
            </a:extLst>
          </p:cNvPr>
          <p:cNvSpPr>
            <a:spLocks noGrp="1"/>
          </p:cNvSpPr>
          <p:nvPr/>
        </p:nvSpPr>
        <p:spPr>
          <a:xfrm>
            <a:off x="6477000" y="24574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B95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B95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364EF6-D5A5-4164-B52F-FF4D40B2F02B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neutral option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880211-C730-4620-8D09-A58C06CC65E9}"/>
              </a:ext>
            </a:extLst>
          </p:cNvPr>
          <p:cNvSpPr>
            <a:spLocks noGrp="1"/>
          </p:cNvSpPr>
          <p:nvPr/>
        </p:nvSpPr>
        <p:spPr>
          <a:xfrm>
            <a:off x="6477000" y="32004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empty period contribution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1B54E8-80CB-47DB-9780-93E5CB2C3B69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77AAE4-5C31-452C-8A6A-152A4C119A26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57150" cy="14668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549BA8-F767-4562-8E47-B4C3B356618B}"/>
              </a:ext>
            </a:extLst>
          </p:cNvPr>
          <p:cNvSpPr>
            <a:spLocks noGrp="1"/>
          </p:cNvSpPr>
          <p:nvPr/>
        </p:nvSpPr>
        <p:spPr>
          <a:xfrm>
            <a:off x="9239250" y="24574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rPr>
              <a:t>76,032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6401A9-F1C5-414F-91E8-F5BE0CB5F3A2}"/>
              </a:ext>
            </a:extLst>
          </p:cNvPr>
          <p:cNvSpPr>
            <a:spLocks noGrp="1"/>
          </p:cNvSpPr>
          <p:nvPr/>
        </p:nvSpPr>
        <p:spPr>
          <a:xfrm>
            <a:off x="9239250" y="2933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complete systems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E3186C9-0B6E-4C22-9AC2-10A8D7DEE683}"/>
              </a:ext>
            </a:extLst>
          </p:cNvPr>
          <p:cNvSpPr>
            <a:spLocks noGrp="1"/>
          </p:cNvSpPr>
          <p:nvPr/>
        </p:nvSpPr>
        <p:spPr>
          <a:xfrm>
            <a:off x="9239250" y="32004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current run total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C274FCC-8581-4AA0-8993-52ED47346B02}"/>
              </a:ext>
            </a:extLst>
          </p:cNvPr>
          <p:cNvSpPr>
            <a:spLocks noGrp="1"/>
          </p:cNvSpPr>
          <p:nvPr/>
        </p:nvSpPr>
        <p:spPr>
          <a:xfrm>
            <a:off x="1714500" y="4876800"/>
            <a:ext cx="8763000" cy="51435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135A9-0746-4B0F-8842-1FA06CB9CA3D}"/>
              </a:ext>
            </a:extLst>
          </p:cNvPr>
          <p:cNvSpPr>
            <a:spLocks noGrp="1"/>
          </p:cNvSpPr>
          <p:nvPr/>
        </p:nvSpPr>
        <p:spPr>
          <a:xfrm>
            <a:off x="2000250" y="50292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Transition: from what the user sees to how V2 keeps the backend isolated, responsive, and scalable.</a:t>
            </a:r>
          </a:p>
        </p:txBody>
      </p:sp>
    </p:spTree>
    <p:extLst>
      <p:ext uri="{BB962C8B-B14F-4D97-AF65-F5344CB8AC3E}">
        <p14:creationId xmlns:p14="http://schemas.microsoft.com/office/powerpoint/2010/main" val="212103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4616F73D-EED3-41B0-9B6D-770D44313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C48ED0-A553-45C3-A7C8-182AC0A281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4B7029-5BD3-4019-956C-AE26D9B9E1C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48CEBA-1708-49EC-A914-672A77712419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3FEC2-0DCD-4071-9042-02F6740956E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553208-7EF9-4DFC-84D1-06755B72BB7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347796-F588-471E-917C-B3D82D762492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11BB8F-750F-4022-B88B-05A3A73E8C04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66118E-C372-48A1-843A-09CE3129BABC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63CB7F-9473-4833-87ED-7618CF15C05A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463960-3A46-4B47-B88F-0B989C50516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4ECFC4-A93E-4D15-AF57-DCB6701D9CD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93DA5C-E8AC-4FDC-8F01-B00894E04DE1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4A6FDD-6F78-4995-93FC-54520C24183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8CD90-9890-4AA0-913A-49940FF0D3CD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B135CB-1C76-4165-8247-1C2D09DAAB8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4D852D-88B6-425F-BA52-6730F8C0385F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8D82C-0EB1-45B0-A73D-9A7FBF275E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753E0-AD3D-4A2D-98D0-2FEDD3BC3B29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40866-88C6-4240-BFB0-E4296E0870C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85430A-D6EA-493A-9AD2-CCD2B60EB36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F6E3C4-BFBB-45EA-A2FE-150D55B3538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D1D8BD-EB4E-436F-B44F-0382BEF01F9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E68CAC-2284-4220-9851-F9C088C4DBF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7923DC-763C-4B5D-96B9-731E73AD61E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5BA922-4C87-433A-8E5D-1D8A25ED2DE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B7CE47-CFF4-43E1-93BE-00F63EEBED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algorithm improvement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460780-5DC3-4301-A788-213C1119DDE4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61CB9F-A32E-41D5-A642-208FD92C4C5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2CA9B0-0BC3-41F8-9BB2-0E618120179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17A1FA-B322-4846-A8F6-DDBDBFCDE2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We improved the algorithm path without changing the rule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D04C7E-389B-4F1F-9017-BE8C2BB9D876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exam conflict rule stayed stable; the solving strategy became more scalable and explainable.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A88AC5-9AF9-45BA-8CD9-8EF7C7433207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1695450" cy="1619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9C3FA3-2A58-4494-B518-B7045422D65C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57150" cy="1619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097606-3D9B-417C-8679-BFCD7DA9ADC0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C0C51F-57B1-4194-8D8A-889960ADC31C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1314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only selected-program exam courses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F96392-9072-42E1-A526-F3B8C7133DD4}"/>
              </a:ext>
            </a:extLst>
          </p:cNvPr>
          <p:cNvSpPr>
            <a:spLocks noGrp="1"/>
          </p:cNvSpPr>
          <p:nvPr/>
        </p:nvSpPr>
        <p:spPr>
          <a:xfrm>
            <a:off x="2628900" y="3143250"/>
            <a:ext cx="2286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E761F4E3-1174-4D50-80AF-C552002BBFA6}"/>
              </a:ext>
            </a:extLst>
          </p:cNvPr>
          <p:cNvSpPr>
            <a:spLocks noGrp="1"/>
          </p:cNvSpPr>
          <p:nvPr/>
        </p:nvSpPr>
        <p:spPr>
          <a:xfrm>
            <a:off x="2857500" y="308610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3275DF-DB86-4746-8903-5216F6DC56BC}"/>
              </a:ext>
            </a:extLst>
          </p:cNvPr>
          <p:cNvSpPr>
            <a:spLocks noGrp="1"/>
          </p:cNvSpPr>
          <p:nvPr/>
        </p:nvSpPr>
        <p:spPr>
          <a:xfrm>
            <a:off x="3028950" y="2343150"/>
            <a:ext cx="1695450" cy="1619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9A3309-E332-4E42-B3BE-47AC2A70E5D9}"/>
              </a:ext>
            </a:extLst>
          </p:cNvPr>
          <p:cNvSpPr>
            <a:spLocks noGrp="1"/>
          </p:cNvSpPr>
          <p:nvPr/>
        </p:nvSpPr>
        <p:spPr>
          <a:xfrm>
            <a:off x="3028950" y="2343150"/>
            <a:ext cx="57150" cy="1619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7276E7-EB7F-4D18-B177-D882174B989F}"/>
              </a:ext>
            </a:extLst>
          </p:cNvPr>
          <p:cNvSpPr>
            <a:spLocks noGrp="1"/>
          </p:cNvSpPr>
          <p:nvPr/>
        </p:nvSpPr>
        <p:spPr>
          <a:xfrm>
            <a:off x="3238500" y="25146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357EF2-4C4F-4DE6-986B-DE063A10175F}"/>
              </a:ext>
            </a:extLst>
          </p:cNvPr>
          <p:cNvSpPr>
            <a:spLocks noGrp="1"/>
          </p:cNvSpPr>
          <p:nvPr/>
        </p:nvSpPr>
        <p:spPr>
          <a:xfrm>
            <a:off x="3219450" y="3009900"/>
            <a:ext cx="1314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conflicts between courses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14CED9-97BF-4EEC-92D6-E33AE21CE0C1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2286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AFCE509-6D86-418E-9A3A-F216B6FE5E43}"/>
              </a:ext>
            </a:extLst>
          </p:cNvPr>
          <p:cNvSpPr>
            <a:spLocks noGrp="1"/>
          </p:cNvSpPr>
          <p:nvPr/>
        </p:nvSpPr>
        <p:spPr>
          <a:xfrm>
            <a:off x="5048250" y="308610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0B707A-9857-4EFD-A14D-F5FC62F95C9D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1695450" cy="1619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9892BA2-608D-41D5-A052-3D91E00D0803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57150" cy="1619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ECE92E-E3F2-41BE-ABF9-3B5A3F275E3A}"/>
              </a:ext>
            </a:extLst>
          </p:cNvPr>
          <p:cNvSpPr>
            <a:spLocks noGrp="1"/>
          </p:cNvSpPr>
          <p:nvPr/>
        </p:nvSpPr>
        <p:spPr>
          <a:xfrm>
            <a:off x="5429250" y="25146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C0B53E-9151-4512-914B-2E0E8922EE5E}"/>
              </a:ext>
            </a:extLst>
          </p:cNvPr>
          <p:cNvSpPr>
            <a:spLocks noGrp="1"/>
          </p:cNvSpPr>
          <p:nvPr/>
        </p:nvSpPr>
        <p:spPr>
          <a:xfrm>
            <a:off x="5410200" y="3009900"/>
            <a:ext cx="1314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independent connected components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D07DE7-C873-4EE3-9F6A-C1060FF8EDF0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2286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CC1EB697-A296-47F9-BC29-8CF4F19D5348}"/>
              </a:ext>
            </a:extLst>
          </p:cNvPr>
          <p:cNvSpPr>
            <a:spLocks noGrp="1"/>
          </p:cNvSpPr>
          <p:nvPr/>
        </p:nvSpPr>
        <p:spPr>
          <a:xfrm>
            <a:off x="7239000" y="308610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323591-3862-4760-9D16-F6E182781F86}"/>
              </a:ext>
            </a:extLst>
          </p:cNvPr>
          <p:cNvSpPr>
            <a:spLocks noGrp="1"/>
          </p:cNvSpPr>
          <p:nvPr/>
        </p:nvSpPr>
        <p:spPr>
          <a:xfrm>
            <a:off x="7410450" y="2343150"/>
            <a:ext cx="1695450" cy="1619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D6C395-3C0F-44B3-9509-045B6DB344CD}"/>
              </a:ext>
            </a:extLst>
          </p:cNvPr>
          <p:cNvSpPr>
            <a:spLocks noGrp="1"/>
          </p:cNvSpPr>
          <p:nvPr/>
        </p:nvSpPr>
        <p:spPr>
          <a:xfrm>
            <a:off x="7410450" y="2343150"/>
            <a:ext cx="57150" cy="1619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0FEF20-4653-4B90-92DD-5CBE2C2EFE94}"/>
              </a:ext>
            </a:extLst>
          </p:cNvPr>
          <p:cNvSpPr>
            <a:spLocks noGrp="1"/>
          </p:cNvSpPr>
          <p:nvPr/>
        </p:nvSpPr>
        <p:spPr>
          <a:xfrm>
            <a:off x="7620000" y="25146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MRV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D0D10D-0C56-4E5F-9B7B-04C69C4213FE}"/>
              </a:ext>
            </a:extLst>
          </p:cNvPr>
          <p:cNvSpPr>
            <a:spLocks noGrp="1"/>
          </p:cNvSpPr>
          <p:nvPr/>
        </p:nvSpPr>
        <p:spPr>
          <a:xfrm>
            <a:off x="7600950" y="3009900"/>
            <a:ext cx="1314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schedule constrained courses first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C8CA37-AEC6-454F-8451-2DD8525D5B96}"/>
              </a:ext>
            </a:extLst>
          </p:cNvPr>
          <p:cNvSpPr>
            <a:spLocks noGrp="1"/>
          </p:cNvSpPr>
          <p:nvPr/>
        </p:nvSpPr>
        <p:spPr>
          <a:xfrm>
            <a:off x="9201150" y="3143250"/>
            <a:ext cx="2286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E2D1B075-5C2D-433A-82FA-845F065A8E61}"/>
              </a:ext>
            </a:extLst>
          </p:cNvPr>
          <p:cNvSpPr>
            <a:spLocks noGrp="1"/>
          </p:cNvSpPr>
          <p:nvPr/>
        </p:nvSpPr>
        <p:spPr>
          <a:xfrm>
            <a:off x="9429750" y="308610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A441A3-21AC-44B5-9333-B0F10C1B852E}"/>
              </a:ext>
            </a:extLst>
          </p:cNvPr>
          <p:cNvSpPr>
            <a:spLocks noGrp="1"/>
          </p:cNvSpPr>
          <p:nvPr/>
        </p:nvSpPr>
        <p:spPr>
          <a:xfrm>
            <a:off x="9601200" y="2343150"/>
            <a:ext cx="1695450" cy="1619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F75C62-7E1E-42CE-905C-610F3DA3E0DE}"/>
              </a:ext>
            </a:extLst>
          </p:cNvPr>
          <p:cNvSpPr>
            <a:spLocks noGrp="1"/>
          </p:cNvSpPr>
          <p:nvPr/>
        </p:nvSpPr>
        <p:spPr>
          <a:xfrm>
            <a:off x="9601200" y="2343150"/>
            <a:ext cx="57150" cy="161925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B95ABA2-9B53-47F1-A7D5-0CAC982A1F10}"/>
              </a:ext>
            </a:extLst>
          </p:cNvPr>
          <p:cNvSpPr>
            <a:spLocks noGrp="1"/>
          </p:cNvSpPr>
          <p:nvPr/>
        </p:nvSpPr>
        <p:spPr>
          <a:xfrm>
            <a:off x="9810750" y="25146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FBED5A4-67DE-47B6-9A9C-26E193DA917A}"/>
              </a:ext>
            </a:extLst>
          </p:cNvPr>
          <p:cNvSpPr>
            <a:spLocks noGrp="1"/>
          </p:cNvSpPr>
          <p:nvPr/>
        </p:nvSpPr>
        <p:spPr>
          <a:xfrm>
            <a:off x="9791700" y="3009900"/>
            <a:ext cx="1314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multiply period schedule counts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D0E2C49-9EB4-4D93-8597-01DEEDD07152}"/>
              </a:ext>
            </a:extLst>
          </p:cNvPr>
          <p:cNvSpPr>
            <a:spLocks noGrp="1"/>
          </p:cNvSpPr>
          <p:nvPr/>
        </p:nvSpPr>
        <p:spPr>
          <a:xfrm>
            <a:off x="1714500" y="4781550"/>
            <a:ext cx="8763000" cy="8191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8316F6-4AF4-4F46-88E5-6A2DB64A8C9B}"/>
              </a:ext>
            </a:extLst>
          </p:cNvPr>
          <p:cNvSpPr>
            <a:spLocks noGrp="1"/>
          </p:cNvSpPr>
          <p:nvPr/>
        </p:nvSpPr>
        <p:spPr>
          <a:xfrm>
            <a:off x="1714500" y="4781550"/>
            <a:ext cx="57150" cy="8191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8204C0-7534-41CF-9028-1262BE15219F}"/>
              </a:ext>
            </a:extLst>
          </p:cNvPr>
          <p:cNvSpPr>
            <a:spLocks noGrp="1"/>
          </p:cNvSpPr>
          <p:nvPr/>
        </p:nvSpPr>
        <p:spPr>
          <a:xfrm>
            <a:off x="1924050" y="49530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Speaking point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A022662-44A0-438E-A4FB-B4BA82625E18}"/>
              </a:ext>
            </a:extLst>
          </p:cNvPr>
          <p:cNvSpPr>
            <a:spLocks noGrp="1"/>
          </p:cNvSpPr>
          <p:nvPr/>
        </p:nvSpPr>
        <p:spPr>
          <a:xfrm>
            <a:off x="4000500" y="4914900"/>
            <a:ext cx="609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AFF"/>
                </a:solidFill>
                <a:latin typeface="Aptos"/>
                <a:ea typeface="Aptos"/>
                <a:cs typeface="Aptos"/>
              </a:rPr>
              <a:t>The improvement is not a different academic rule. It is a smarter route through the search space, so the same valid schedules can be generated and counted with less unnecessary work.</a:t>
            </a:r>
          </a:p>
        </p:txBody>
      </p:sp>
    </p:spTree>
    <p:extLst>
      <p:ext uri="{BB962C8B-B14F-4D97-AF65-F5344CB8AC3E}">
        <p14:creationId xmlns:p14="http://schemas.microsoft.com/office/powerpoint/2010/main" val="34048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6AC2C55-45DC-4736-8994-53EB555F89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9ACC3-ABE1-417B-B88D-1ED673C1A0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2E162-5959-41DB-BE51-965721C670D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65AD2D-7D13-4D28-992F-5932E6D95201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9EAA07-2CA3-4318-A111-7BBD1F12585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B89F3-D310-4423-B2EF-3FCFC7DFCDB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56E811-ED03-4443-80F6-A0FD110E651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8A62A5-EAF9-43A0-9027-C371CDEAD65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9D9C48-94D7-4FB1-99BE-B0E8CE13B23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7949E9-966A-480E-A5DF-1BE6E8185C7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90E3D7-2233-4F31-BA2C-24704D6C102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519CD-44A0-4CA9-B19D-DD6ED0686DA1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3B79EE-A13C-40E2-8384-F269D37B8FCD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C49F7-883E-4189-9D52-800974CEE9BB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305EE-FDA7-4590-850B-D548E36C0DD4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DA22D-B6DD-42F2-A362-35C23EE7D69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EC195-AF6C-4100-9111-20632109A98C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D8093E-66E5-4897-A480-D614700B5F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C8C234-9C9D-419D-8685-7FD93FCCBEC0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FBA900-F0C8-413D-8020-7E2B04C0D4E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B7FB42-6E30-4754-B83E-6114A6CB858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4C1EB0-366B-4CAC-AA5A-1B370A1D6C56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907B15-B71B-42D8-BE3F-78C49078D07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A02B96-1FA4-4137-BBBD-283B548EA7B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187436-4286-4D80-9E08-04587A8AEBEE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988322-E8B1-4A59-AC0D-A1A26E159BB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BA80F5-16B4-4A5A-ABD0-1E19FE8EAC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streaming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ED4967-2CF3-4885-B7A4-055E85A9494F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6A5D44-8FBD-4BBC-80EC-649D6B2A7C8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3B4E31-CFB5-4246-9168-5896911BED6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281B3F-6FBD-410E-82F9-AFA3E599459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Streaming turns huge result spaces into pages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F6424-5EF1-4927-B40A-D3D7882707EB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Instead of forcing every complete system into memory, V2 generates 1,000 results per page.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E4D8FC-7CC4-4035-BC2B-951B2EC3FD74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9527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BCB1CC-DE82-4714-9E9E-E7D397CA0662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57150" cy="14668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0384D0-ED23-45EC-A262-9FEBFD3EE3B7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rPr>
              <a:t>1,000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D4DC4F-04FC-4F95-A744-E74D7CB283FD}"/>
              </a:ext>
            </a:extLst>
          </p:cNvPr>
          <p:cNvSpPr>
            <a:spLocks noGrp="1"/>
          </p:cNvSpPr>
          <p:nvPr/>
        </p:nvSpPr>
        <p:spPr>
          <a:xfrm>
            <a:off x="1047750" y="30099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results per page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30270B-094C-4049-9F09-B96ABA10CECF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default lazy complete-system batch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99FDE5-E5EC-46B8-9BEF-DCE10751A3B6}"/>
              </a:ext>
            </a:extLst>
          </p:cNvPr>
          <p:cNvSpPr>
            <a:spLocks noGrp="1"/>
          </p:cNvSpPr>
          <p:nvPr/>
        </p:nvSpPr>
        <p:spPr>
          <a:xfrm>
            <a:off x="4476750" y="2209800"/>
            <a:ext cx="6286500" cy="2381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A6D7FD-87E4-441F-8509-09650F4EB627}"/>
              </a:ext>
            </a:extLst>
          </p:cNvPr>
          <p:cNvSpPr>
            <a:spLocks noGrp="1"/>
          </p:cNvSpPr>
          <p:nvPr/>
        </p:nvSpPr>
        <p:spPr>
          <a:xfrm>
            <a:off x="4476750" y="2209800"/>
            <a:ext cx="57150" cy="2381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AEC94C-603E-4123-A5B4-429592449C10}"/>
              </a:ext>
            </a:extLst>
          </p:cNvPr>
          <p:cNvSpPr>
            <a:spLocks noGrp="1"/>
          </p:cNvSpPr>
          <p:nvPr/>
        </p:nvSpPr>
        <p:spPr>
          <a:xfrm>
            <a:off x="4686300" y="2381250"/>
            <a:ext cx="586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Streaming conversation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F94543-4CEC-4383-AEA9-57BB7225D11D}"/>
              </a:ext>
            </a:extLst>
          </p:cNvPr>
          <p:cNvSpPr>
            <a:spLocks noGrp="1"/>
          </p:cNvSpPr>
          <p:nvPr/>
        </p:nvSpPr>
        <p:spPr>
          <a:xfrm>
            <a:off x="4819650" y="28384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Backend writes a batch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0050DD-18FF-4D28-B5F4-5404456581D6}"/>
              </a:ext>
            </a:extLst>
          </p:cNvPr>
          <p:cNvSpPr>
            <a:spLocks noGrp="1"/>
          </p:cNvSpPr>
          <p:nvPr/>
        </p:nvSpPr>
        <p:spPr>
          <a:xfrm>
            <a:off x="7239000" y="283845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schedule blocks + BATCH_END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81041E-D622-4377-A368-0DA8289A1D69}"/>
              </a:ext>
            </a:extLst>
          </p:cNvPr>
          <p:cNvSpPr>
            <a:spLocks noGrp="1"/>
          </p:cNvSpPr>
          <p:nvPr/>
        </p:nvSpPr>
        <p:spPr>
          <a:xfrm>
            <a:off x="4819650" y="32385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7D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F7DF0"/>
                </a:solidFill>
                <a:latin typeface="Aptos"/>
                <a:ea typeface="Aptos"/>
                <a:cs typeface="Aptos"/>
              </a:rPr>
              <a:t>UI caches that page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5B6CB78-327B-4B67-87F3-2312263CAD6B}"/>
              </a:ext>
            </a:extLst>
          </p:cNvPr>
          <p:cNvSpPr>
            <a:spLocks noGrp="1"/>
          </p:cNvSpPr>
          <p:nvPr/>
        </p:nvSpPr>
        <p:spPr>
          <a:xfrm>
            <a:off x="7239000" y="32385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preview stays quick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8851F33-A159-4889-8985-B10FFDC19E7D}"/>
              </a:ext>
            </a:extLst>
          </p:cNvPr>
          <p:cNvSpPr>
            <a:spLocks noGrp="1"/>
          </p:cNvSpPr>
          <p:nvPr/>
        </p:nvSpPr>
        <p:spPr>
          <a:xfrm>
            <a:off x="4819650" y="36385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BE6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E66F"/>
                </a:solidFill>
                <a:latin typeface="Aptos"/>
                <a:ea typeface="Aptos"/>
                <a:cs typeface="Aptos"/>
              </a:rPr>
              <a:t>User asks for NEXT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8AC825-49AC-4A66-8BB9-121A98AF81F1}"/>
              </a:ext>
            </a:extLst>
          </p:cNvPr>
          <p:cNvSpPr>
            <a:spLocks noGrp="1"/>
          </p:cNvSpPr>
          <p:nvPr/>
        </p:nvSpPr>
        <p:spPr>
          <a:xfrm>
            <a:off x="7239000" y="363855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process continues only when needed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E40EB6-FB29-4928-919C-4C08D737F50F}"/>
              </a:ext>
            </a:extLst>
          </p:cNvPr>
          <p:cNvSpPr>
            <a:spLocks noGrp="1"/>
          </p:cNvSpPr>
          <p:nvPr/>
        </p:nvSpPr>
        <p:spPr>
          <a:xfrm>
            <a:off x="4819650" y="40386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STOP closes stream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0FA213-5F8A-451A-BE39-EAD60014862E}"/>
              </a:ext>
            </a:extLst>
          </p:cNvPr>
          <p:cNvSpPr>
            <a:spLocks noGrp="1"/>
          </p:cNvSpPr>
          <p:nvPr/>
        </p:nvSpPr>
        <p:spPr>
          <a:xfrm>
            <a:off x="7239000" y="403860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screen exit or cancel is controlled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9E569A-4770-47AA-B072-98C5E6E4FADB}"/>
              </a:ext>
            </a:extLst>
          </p:cNvPr>
          <p:cNvSpPr>
            <a:spLocks noGrp="1"/>
          </p:cNvSpPr>
          <p:nvPr/>
        </p:nvSpPr>
        <p:spPr>
          <a:xfrm>
            <a:off x="1809750" y="5124450"/>
            <a:ext cx="8572500" cy="45720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58EF31-7717-4757-BC67-5878062C2DE8}"/>
              </a:ext>
            </a:extLst>
          </p:cNvPr>
          <p:cNvSpPr>
            <a:spLocks noGrp="1"/>
          </p:cNvSpPr>
          <p:nvPr/>
        </p:nvSpPr>
        <p:spPr>
          <a:xfrm>
            <a:off x="2095500" y="525780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Presenter line: the user sees normal pages; behind the scenes the app is controlling memory, parsing, and process flow.</a:t>
            </a:r>
          </a:p>
        </p:txBody>
      </p:sp>
    </p:spTree>
    <p:extLst>
      <p:ext uri="{BB962C8B-B14F-4D97-AF65-F5344CB8AC3E}">
        <p14:creationId xmlns:p14="http://schemas.microsoft.com/office/powerpoint/2010/main" val="154263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DCF8D9E2-2C59-4702-92D2-0A56CAB576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755C93-906B-409E-9526-12E58E26DF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B24B3B-B217-4662-956E-34A649EE72A9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C422B-D592-4A77-B25E-D8DE4B622C0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2E2C1-EED9-40F3-812C-9018ED7C69B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361C9-3D63-43BC-8E85-E1A5C523C86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7D46B2-7105-4F61-877A-8D94308517A8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8467F-5D97-4945-A131-D49195EC051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1C8BDF-1A51-409C-8025-AF05F4E81FE0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E5B00-AB00-466A-BE04-4F5B4C7703E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1DD1B4-E264-4F1C-9E6E-C8B01B9031F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1FD25-A7D6-47C9-B9AD-706A23BBCB9E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A4F60-A2DE-4BCE-AA5A-E47E48A59C8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0A8165-3BF4-408A-99EF-3D7DE84DCAF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CEEADA-26FC-4D14-B0F7-155E297F255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ACA3E9-9BCE-43BA-A28C-D08B6230C8C3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1AB9AB-7DB7-4468-A361-6B48ECD77648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53CC9C-3977-408E-B575-3FA3682755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11834E-A359-426D-A7FB-7AAD0B92980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49F4C9-2CAD-4798-B6DD-686E9420479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8F5E5B-09BE-42A2-8907-3BFB4808606D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E379FD-FBEA-4D21-8A5E-1A8226DB47C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F496B0-B502-4D40-A3AC-1F93E3A2AB5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EBCCF7-2ECD-4F73-9CFE-254BAD7F7F4F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5B9510-0539-41C7-B6D1-D879B06BFF84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8CF50-BCE2-47C1-B10D-34F6A7B39AE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13B97F-02FB-4609-AA68-DB9C0E26378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Maoz / non-freeze UI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BB59B9-3328-49DA-AF91-BA9EE3CAF63F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10F5BE-6ED8-41F0-A595-F6FDC51B0A9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81F179-A998-4E3B-A2A1-EED8E0BC37F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41F087-323E-4723-B35A-A4671182BCF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QProcess is the reason the UI does not freeze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B9B77E-5AD7-4EA5-B1EC-2E39BB6AA378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scheduler runs as a local child process while PyQt keeps handling clicks, painting, and cancel actions.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54FE50-0860-4898-9AEE-EEBD0A5AE4C1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781300" cy="22669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DC7A54-DFC0-4E3E-8774-86E5B3C65066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57150" cy="22669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8B850F-D55D-4AB8-A90E-4743FD5B8266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PyQt UI thread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D0E4D8-9FB7-479C-BA75-E33A22CBA0E5}"/>
              </a:ext>
            </a:extLst>
          </p:cNvPr>
          <p:cNvSpPr>
            <a:spLocks noGrp="1"/>
          </p:cNvSpPr>
          <p:nvPr/>
        </p:nvSpPr>
        <p:spPr>
          <a:xfrm>
            <a:off x="4705350" y="2343150"/>
            <a:ext cx="2781300" cy="22669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F54327-F8F7-42CA-AFAE-76DB69318D53}"/>
              </a:ext>
            </a:extLst>
          </p:cNvPr>
          <p:cNvSpPr>
            <a:spLocks noGrp="1"/>
          </p:cNvSpPr>
          <p:nvPr/>
        </p:nvSpPr>
        <p:spPr>
          <a:xfrm>
            <a:off x="4705350" y="2343150"/>
            <a:ext cx="57150" cy="22669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8068A7-4275-489A-AA2B-BE7C0F50BAE0}"/>
              </a:ext>
            </a:extLst>
          </p:cNvPr>
          <p:cNvSpPr>
            <a:spLocks noGrp="1"/>
          </p:cNvSpPr>
          <p:nvPr/>
        </p:nvSpPr>
        <p:spPr>
          <a:xfrm>
            <a:off x="4914900" y="251460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QProcess bridge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CB9749-09CE-4D42-B4E5-AA9CB5CE52AE}"/>
              </a:ext>
            </a:extLst>
          </p:cNvPr>
          <p:cNvSpPr>
            <a:spLocks noGrp="1"/>
          </p:cNvSpPr>
          <p:nvPr/>
        </p:nvSpPr>
        <p:spPr>
          <a:xfrm>
            <a:off x="8553450" y="2343150"/>
            <a:ext cx="2781300" cy="22669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71B628-66EF-4EE0-BA08-05A71E831D39}"/>
              </a:ext>
            </a:extLst>
          </p:cNvPr>
          <p:cNvSpPr>
            <a:spLocks noGrp="1"/>
          </p:cNvSpPr>
          <p:nvPr/>
        </p:nvSpPr>
        <p:spPr>
          <a:xfrm>
            <a:off x="8553450" y="2343150"/>
            <a:ext cx="57150" cy="22669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650910-3D09-4210-BA3F-980EFC943BF0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6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main.py backend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1D1ACA-D2AA-44E4-8E14-2CE9B42330B2}"/>
              </a:ext>
            </a:extLst>
          </p:cNvPr>
          <p:cNvSpPr>
            <a:spLocks noGrp="1"/>
          </p:cNvSpPr>
          <p:nvPr/>
        </p:nvSpPr>
        <p:spPr>
          <a:xfrm>
            <a:off x="1181100" y="3086100"/>
            <a:ext cx="21336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Buttons, calendar repaint, progress messages, and cancellation stay responsive.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0B28C-4A01-4BDB-9C5E-A4F985F0F56E}"/>
              </a:ext>
            </a:extLst>
          </p:cNvPr>
          <p:cNvSpPr>
            <a:spLocks noGrp="1"/>
          </p:cNvSpPr>
          <p:nvPr/>
        </p:nvSpPr>
        <p:spPr>
          <a:xfrm>
            <a:off x="5029200" y="3086100"/>
            <a:ext cx="21336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readyReadStandardOutput, stderr, finished, and error signals move data safely.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1D15A6-5EFA-4F99-AF4B-5741733C6165}"/>
              </a:ext>
            </a:extLst>
          </p:cNvPr>
          <p:cNvSpPr>
            <a:spLocks noGrp="1"/>
          </p:cNvSpPr>
          <p:nvPr/>
        </p:nvSpPr>
        <p:spPr>
          <a:xfrm>
            <a:off x="8877300" y="2990850"/>
            <a:ext cx="21336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Parsing, filtering, scheduling, output formatting, and lazy generation remain in the trusted backend path.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4516FD-10D3-4940-9D84-9DDAD4E44C45}"/>
              </a:ext>
            </a:extLst>
          </p:cNvPr>
          <p:cNvSpPr>
            <a:spLocks noGrp="1"/>
          </p:cNvSpPr>
          <p:nvPr/>
        </p:nvSpPr>
        <p:spPr>
          <a:xfrm>
            <a:off x="3676650" y="3467100"/>
            <a:ext cx="89535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7216F8D-12CD-4938-8CAF-AB7AFEB95F74}"/>
              </a:ext>
            </a:extLst>
          </p:cNvPr>
          <p:cNvSpPr>
            <a:spLocks noGrp="1"/>
          </p:cNvSpPr>
          <p:nvPr/>
        </p:nvSpPr>
        <p:spPr>
          <a:xfrm>
            <a:off x="4572000" y="34099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19BFB9-66A8-45A4-A17F-B74AA5102902}"/>
              </a:ext>
            </a:extLst>
          </p:cNvPr>
          <p:cNvSpPr>
            <a:spLocks noGrp="1"/>
          </p:cNvSpPr>
          <p:nvPr/>
        </p:nvSpPr>
        <p:spPr>
          <a:xfrm>
            <a:off x="7524750" y="3467100"/>
            <a:ext cx="895350" cy="28575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84442ACC-E771-46CB-81DB-685F21C77F75}"/>
              </a:ext>
            </a:extLst>
          </p:cNvPr>
          <p:cNvSpPr>
            <a:spLocks noGrp="1"/>
          </p:cNvSpPr>
          <p:nvPr/>
        </p:nvSpPr>
        <p:spPr>
          <a:xfrm>
            <a:off x="8420100" y="3409950"/>
            <a:ext cx="114300" cy="142875"/>
          </a:xfrm>
          <a:prstGeom prst="triangle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96E2D4-88BA-40CE-A0BB-9F3FE19D474D}"/>
              </a:ext>
            </a:extLst>
          </p:cNvPr>
          <p:cNvSpPr>
            <a:spLocks noGrp="1"/>
          </p:cNvSpPr>
          <p:nvPr/>
        </p:nvSpPr>
        <p:spPr>
          <a:xfrm>
            <a:off x="1847850" y="5219700"/>
            <a:ext cx="8496300" cy="438150"/>
          </a:xfrm>
          <a:prstGeom prst="rect">
            <a:avLst/>
          </a:prstGeom>
          <a:solidFill>
            <a:srgbClr val="223044"/>
          </a:solidFill>
          <a:ln w="9525">
            <a:solidFill>
              <a:srgbClr val="9BE66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00EA71-6EF8-4C82-9DA1-C26780A8D2C9}"/>
              </a:ext>
            </a:extLst>
          </p:cNvPr>
          <p:cNvSpPr>
            <a:spLocks noGrp="1"/>
          </p:cNvSpPr>
          <p:nvPr/>
        </p:nvSpPr>
        <p:spPr>
          <a:xfrm>
            <a:off x="2133600" y="5276850"/>
            <a:ext cx="792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BE6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E66F"/>
                </a:solidFill>
                <a:latin typeface="Aptos"/>
                <a:ea typeface="Aptos"/>
                <a:cs typeface="Aptos"/>
              </a:rPr>
              <a:t>Requirement match: long scheduling work does not block the GUI event loop, so the application never feels stuck.</a:t>
            </a:r>
          </a:p>
        </p:txBody>
      </p:sp>
    </p:spTree>
    <p:extLst>
      <p:ext uri="{BB962C8B-B14F-4D97-AF65-F5344CB8AC3E}">
        <p14:creationId xmlns:p14="http://schemas.microsoft.com/office/powerpoint/2010/main" val="1728903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7E6CE51-7D8D-4BF2-B633-5AA05B8D3F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0A0DA-F294-44D3-A61F-F66532AF15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4947D4-BF80-41EF-8189-6ACBE67ECE12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4CB55-9C84-47C2-84FB-66C6291AC28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3CB100-7F60-4F5D-8F95-2BFA942F62F5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B7FBD-0318-4542-8999-61E71484EDF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76382-5CF2-4C5D-B504-2C2ECB2700F8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85400-5014-4DD8-AD34-94A54845686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DD6144-4577-4E13-8A08-1D9CEB2F658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EE4BE-9A5C-4C84-837B-670CDD49A4A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2832B7-1B1B-41FE-A0C1-79092E71A0C7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74013E-1889-430F-B48B-886879C242EE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3CDD82-3432-4A05-B7AC-BA0384AF80FD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80C60-46D6-4B31-B03F-B7096482148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015769-F853-41FC-8501-D653AAA33CB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7A803-E6B0-40CA-AC0F-E5A1655B74A6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95688-5132-4A79-AD54-D81DCA2C1F36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7C7C0D-BE80-4329-BC9E-81CE427AA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88068F-E4CE-428B-8F8C-C311A1F4AD51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E039D3-DBA7-4B63-ADCB-97E0646D008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05867B-E56D-428B-B73A-0E8DF4CDA39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C8E467-4025-4260-845A-A81F543D058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CA2474-549D-47F2-A4D2-5141108A326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85BAF7-7AA3-4FBC-B4D6-A38D2969A4DC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22E9C3-353F-492C-9F6B-91B86B705E4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6E8B1D-7DB3-4E38-8DBA-9FF256A6A33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D302AE-A715-4B14-8F32-B7296FEFA4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Section 2 / GUI software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6D6C2D-F73E-445A-905D-6148E3935DAC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FD0303-616F-45BB-AC16-1FF26C95078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A86C95-2AD7-40E4-9673-EFA2B77F129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FA83EF-DCFF-41B9-8264-0F4611C65547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428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Alex Roizen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14C7B2-3E45-45B6-8A83-48BCAFADB3F1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expanded speaking block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28D843-8C22-46F7-A852-AE7E6B3C9F56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7429500" cy="2476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5F905B-DF2A-4817-9427-71C2B4E3E24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57150" cy="24765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8EB2D3-B464-4F15-B687-35C2A68524FA}"/>
              </a:ext>
            </a:extLst>
          </p:cNvPr>
          <p:cNvSpPr>
            <a:spLocks noGrp="1"/>
          </p:cNvSpPr>
          <p:nvPr/>
        </p:nvSpPr>
        <p:spPr>
          <a:xfrm>
            <a:off x="1123950" y="31146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9EC37D-0CA5-4D4D-985F-BE7E546FAC11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Show the division between GUI, services/adapters, process boundary, and backend.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806A8C-CD8F-45DB-89A3-4E97EC5459FD}"/>
              </a:ext>
            </a:extLst>
          </p:cNvPr>
          <p:cNvSpPr>
            <a:spLocks noGrp="1"/>
          </p:cNvSpPr>
          <p:nvPr/>
        </p:nvSpPr>
        <p:spPr>
          <a:xfrm>
            <a:off x="1123950" y="35718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AF6181-7F6D-4AF5-B484-4FD8633DBDAD}"/>
              </a:ext>
            </a:extLst>
          </p:cNvPr>
          <p:cNvSpPr>
            <a:spLocks noGrp="1"/>
          </p:cNvSpPr>
          <p:nvPr/>
        </p:nvSpPr>
        <p:spPr>
          <a:xfrm>
            <a:off x="1333500" y="34861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Explain information flow from UI actions to runtime files and back to calendar models.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FCF05D-8BD0-465F-9836-ED3515626CFB}"/>
              </a:ext>
            </a:extLst>
          </p:cNvPr>
          <p:cNvSpPr>
            <a:spLocks noGrp="1"/>
          </p:cNvSpPr>
          <p:nvPr/>
        </p:nvSpPr>
        <p:spPr>
          <a:xfrm>
            <a:off x="1123950" y="40290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8E5D3F-9CB0-46CA-BEA6-8AE89224896D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Discuss advantages and disadvantages of the chosen design.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18E1DB-F153-4225-A9E7-8FA67E256FF7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2000250" cy="3333750"/>
          </a:xfrm>
          <a:prstGeom prst="rect">
            <a:avLst/>
          </a:prstGeom>
          <a:solidFill>
            <a:srgbClr val="223044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7E9FAF-091E-4AFC-8B33-7CBAF083CAD7}"/>
              </a:ext>
            </a:extLst>
          </p:cNvPr>
          <p:cNvSpPr>
            <a:spLocks noGrp="1"/>
          </p:cNvSpPr>
          <p:nvPr/>
        </p:nvSpPr>
        <p:spPr>
          <a:xfrm>
            <a:off x="9163050" y="1981200"/>
            <a:ext cx="13906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6C7F38-995B-426F-BCE7-88A7C132284D}"/>
              </a:ext>
            </a:extLst>
          </p:cNvPr>
          <p:cNvSpPr>
            <a:spLocks noGrp="1"/>
          </p:cNvSpPr>
          <p:nvPr/>
        </p:nvSpPr>
        <p:spPr>
          <a:xfrm>
            <a:off x="9315450" y="3105150"/>
            <a:ext cx="110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1133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7A5FFCD6-A0C4-416C-9983-00DDDFD3F2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E4666-D42D-4BA4-BBF4-043D3419A4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75E2A-2AFF-429E-852B-B5FD7BA15BAE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30AC3-C8FD-4E99-B082-0BF76731283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D749E-6F6E-4AAE-AAAB-A574B0AA908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E32DFE-066F-4104-B7E5-587A2E5570B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6C8AE-4252-48A0-A763-2B61E8F21F9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8595B0-8356-4DF1-960A-27CE272DA16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0A69E-9F6E-4387-AB63-FCEA73A2725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4073D-EDF9-4450-B416-777BD03E650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8B7C91-408A-4845-987E-AE5C10C632C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A03032-C00B-401A-A7E1-9CCDF8E4472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E38C78-7D68-4EFC-B5E8-2CA3E1E98A4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AEF3B5-8627-475C-8D63-A8E2E116AF8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64DA3B-AF8C-4304-B4D4-1EDC48627CE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E1786E-68A1-40F1-888B-19C3C871A13A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A11119-0008-44D2-B9F5-432DF1F887B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E1A4F3-6F3A-47C4-8F8B-AFCC39E703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C78426-7701-4072-9AD6-3357159DEE1D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EFC4DD-B9E7-497E-895A-63CB72A9E07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FADC71-AEDD-4E2B-89C0-1A4273A3B75D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AAA12E-419F-4CCC-87E7-520B02564670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411761-D85A-488D-AEE4-A8E321CA936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10CD77-2D5D-4E8A-8FD7-7A3E787D5B7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2CEE75-FFF9-4B83-A55D-15508BCC2B34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473651-9E9B-4B38-AF46-64642E63E3F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4291AA-2347-4518-A612-5DDABBCFC19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GUI overview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0F425D-8E53-459D-86C2-49DE98D70F7A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5E378E-ED4F-4F97-B6E5-27CDB71444C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C102B2-A1CB-4B32-8885-6BE257B2ACD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4C9158-2D2D-43BF-99E9-09244F78012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GUI is a coordination layer, not a second scheduler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A2D8DF-6FA1-4E86-9124-774F0B806D06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MainWindow connects widgets, services, QProcess, and output parsing without importing solver classes directly.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CC1546-C515-441D-B77A-AAA559ADD77B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C4B180-E71D-43FA-B312-BEB53635F52B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0045A4-79EC-4B56-93C0-C438E1F4CBAB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InputPanel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1EC1EB-CB46-4CFA-BA0F-7F0F36E69443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3F4B69-3E1D-43C6-9553-06599994CEBC}"/>
              </a:ext>
            </a:extLst>
          </p:cNvPr>
          <p:cNvSpPr>
            <a:spLocks noGrp="1"/>
          </p:cNvSpPr>
          <p:nvPr/>
        </p:nvSpPr>
        <p:spPr>
          <a:xfrm>
            <a:off x="135255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file loader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B52963-3B59-4BA2-96C2-D5E725C11FFE}"/>
              </a:ext>
            </a:extLst>
          </p:cNvPr>
          <p:cNvSpPr>
            <a:spLocks noGrp="1"/>
          </p:cNvSpPr>
          <p:nvPr/>
        </p:nvSpPr>
        <p:spPr>
          <a:xfrm>
            <a:off x="1143000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6485E3-9240-4EDB-8DE6-542E799FA06C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program selection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08C05E-5460-4D76-BBBD-0571B8FC97C8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4AB107-6E7B-464F-AD4A-5A1484EDE3DF}"/>
              </a:ext>
            </a:extLst>
          </p:cNvPr>
          <p:cNvSpPr>
            <a:spLocks noGrp="1"/>
          </p:cNvSpPr>
          <p:nvPr/>
        </p:nvSpPr>
        <p:spPr>
          <a:xfrm>
            <a:off x="135255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page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0FCA0B-0F44-4C5A-9A45-F4A8C630644F}"/>
              </a:ext>
            </a:extLst>
          </p:cNvPr>
          <p:cNvSpPr>
            <a:spLocks noGrp="1"/>
          </p:cNvSpPr>
          <p:nvPr/>
        </p:nvSpPr>
        <p:spPr>
          <a:xfrm>
            <a:off x="1143000" y="39909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8EE06E-8B23-45D6-9AFF-5268D1ED91BA}"/>
              </a:ext>
            </a:extLst>
          </p:cNvPr>
          <p:cNvSpPr>
            <a:spLocks noGrp="1"/>
          </p:cNvSpPr>
          <p:nvPr/>
        </p:nvSpPr>
        <p:spPr>
          <a:xfrm>
            <a:off x="1352550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run action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9D4575-AAA2-4AC4-A2D8-531D399843F6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A358BA-D4C7-4911-A709-FBCF8AD2E30D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8C44C7-D524-4B1C-99C7-C4A57D584199}"/>
              </a:ext>
            </a:extLst>
          </p:cNvPr>
          <p:cNvSpPr>
            <a:spLocks noGrp="1"/>
          </p:cNvSpPr>
          <p:nvPr/>
        </p:nvSpPr>
        <p:spPr>
          <a:xfrm>
            <a:off x="378142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MainWindow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01BBC5-47E7-4554-B9AF-8A6B90906674}"/>
              </a:ext>
            </a:extLst>
          </p:cNvPr>
          <p:cNvSpPr>
            <a:spLocks noGrp="1"/>
          </p:cNvSpPr>
          <p:nvPr/>
        </p:nvSpPr>
        <p:spPr>
          <a:xfrm>
            <a:off x="3800475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AFBE3A-2D1E-4B0B-8FA6-C7C15509C4FB}"/>
              </a:ext>
            </a:extLst>
          </p:cNvPr>
          <p:cNvSpPr>
            <a:spLocks noGrp="1"/>
          </p:cNvSpPr>
          <p:nvPr/>
        </p:nvSpPr>
        <p:spPr>
          <a:xfrm>
            <a:off x="401002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coordinates UI state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60F5B6-ED18-4A65-B4F3-0D4BBCAD2CEA}"/>
              </a:ext>
            </a:extLst>
          </p:cNvPr>
          <p:cNvSpPr>
            <a:spLocks noGrp="1"/>
          </p:cNvSpPr>
          <p:nvPr/>
        </p:nvSpPr>
        <p:spPr>
          <a:xfrm>
            <a:off x="3800475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802EB7-4980-4F80-83D0-26D6ACFE77F0}"/>
              </a:ext>
            </a:extLst>
          </p:cNvPr>
          <p:cNvSpPr>
            <a:spLocks noGrp="1"/>
          </p:cNvSpPr>
          <p:nvPr/>
        </p:nvSpPr>
        <p:spPr>
          <a:xfrm>
            <a:off x="401002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starts runs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BA0EA3-6535-48BC-9565-00AE7278D949}"/>
              </a:ext>
            </a:extLst>
          </p:cNvPr>
          <p:cNvSpPr>
            <a:spLocks noGrp="1"/>
          </p:cNvSpPr>
          <p:nvPr/>
        </p:nvSpPr>
        <p:spPr>
          <a:xfrm>
            <a:off x="3800475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ADF2C3-0217-4107-BA26-E896085D48AC}"/>
              </a:ext>
            </a:extLst>
          </p:cNvPr>
          <p:cNvSpPr>
            <a:spLocks noGrp="1"/>
          </p:cNvSpPr>
          <p:nvPr/>
        </p:nvSpPr>
        <p:spPr>
          <a:xfrm>
            <a:off x="401002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switches screens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A626C4-5B2E-49C0-AF2A-CAFC78F89AD2}"/>
              </a:ext>
            </a:extLst>
          </p:cNvPr>
          <p:cNvSpPr>
            <a:spLocks noGrp="1"/>
          </p:cNvSpPr>
          <p:nvPr/>
        </p:nvSpPr>
        <p:spPr>
          <a:xfrm>
            <a:off x="3800475" y="39909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BF98B4E-B952-4122-B7A6-396881FD8D57}"/>
              </a:ext>
            </a:extLst>
          </p:cNvPr>
          <p:cNvSpPr>
            <a:spLocks noGrp="1"/>
          </p:cNvSpPr>
          <p:nvPr/>
        </p:nvSpPr>
        <p:spPr>
          <a:xfrm>
            <a:off x="4010025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handles errors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A4CD91-C1FE-47B2-9A3C-03D8049CB9B8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7396C1B-9819-40CB-A5D5-36C8EE0D6A0E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6D8F12A-3ECD-4860-949B-EFBFDC9BB5D8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ProcessRunner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583AFBC-7ABC-4367-8AC6-7BF41E717D19}"/>
              </a:ext>
            </a:extLst>
          </p:cNvPr>
          <p:cNvSpPr>
            <a:spLocks noGrp="1"/>
          </p:cNvSpPr>
          <p:nvPr/>
        </p:nvSpPr>
        <p:spPr>
          <a:xfrm>
            <a:off x="6457950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7DFB69F-C5A7-4D95-BF3A-648D3851BCB5}"/>
              </a:ext>
            </a:extLst>
          </p:cNvPr>
          <p:cNvSpPr>
            <a:spLocks noGrp="1"/>
          </p:cNvSpPr>
          <p:nvPr/>
        </p:nvSpPr>
        <p:spPr>
          <a:xfrm>
            <a:off x="666750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QProcess wrapper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A0B66DE-91CA-4276-A986-EA663C88B646}"/>
              </a:ext>
            </a:extLst>
          </p:cNvPr>
          <p:cNvSpPr>
            <a:spLocks noGrp="1"/>
          </p:cNvSpPr>
          <p:nvPr/>
        </p:nvSpPr>
        <p:spPr>
          <a:xfrm>
            <a:off x="6457950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1EBA56D-0959-4D60-8AE5-EC902E909310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stdout/stderr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EFD76B9-BEF1-4380-9E86-1CB7FC530B39}"/>
              </a:ext>
            </a:extLst>
          </p:cNvPr>
          <p:cNvSpPr>
            <a:spLocks noGrp="1"/>
          </p:cNvSpPr>
          <p:nvPr/>
        </p:nvSpPr>
        <p:spPr>
          <a:xfrm>
            <a:off x="6457950" y="36671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7288885-F85E-4312-B721-CA40E1B856A7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cancel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327633-134B-47E5-AAF3-1ED99F8D04BE}"/>
              </a:ext>
            </a:extLst>
          </p:cNvPr>
          <p:cNvSpPr>
            <a:spLocks noGrp="1"/>
          </p:cNvSpPr>
          <p:nvPr/>
        </p:nvSpPr>
        <p:spPr>
          <a:xfrm>
            <a:off x="6457950" y="39909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35C6BAF-719D-4024-969D-5215ED9C9691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finish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84D0EF-B000-4B86-9A82-82DFBBFFEDD5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566A33-A6C8-46EC-BDB1-32EA7F738FC4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16131F4-7C46-4732-A59D-DF5690E88C1A}"/>
              </a:ext>
            </a:extLst>
          </p:cNvPr>
          <p:cNvSpPr>
            <a:spLocks noGrp="1"/>
          </p:cNvSpPr>
          <p:nvPr/>
        </p:nvSpPr>
        <p:spPr>
          <a:xfrm>
            <a:off x="909637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OutputView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9696942-F5CE-4D43-B798-73A06F2A666A}"/>
              </a:ext>
            </a:extLst>
          </p:cNvPr>
          <p:cNvSpPr>
            <a:spLocks noGrp="1"/>
          </p:cNvSpPr>
          <p:nvPr/>
        </p:nvSpPr>
        <p:spPr>
          <a:xfrm>
            <a:off x="9115425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DE24370-8424-4397-88C0-D3267294DF5D}"/>
              </a:ext>
            </a:extLst>
          </p:cNvPr>
          <p:cNvSpPr>
            <a:spLocks noGrp="1"/>
          </p:cNvSpPr>
          <p:nvPr/>
        </p:nvSpPr>
        <p:spPr>
          <a:xfrm>
            <a:off x="932497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AEA4F39-6920-4A0E-87E6-072EDA2E1C61}"/>
              </a:ext>
            </a:extLst>
          </p:cNvPr>
          <p:cNvSpPr>
            <a:spLocks noGrp="1"/>
          </p:cNvSpPr>
          <p:nvPr/>
        </p:nvSpPr>
        <p:spPr>
          <a:xfrm>
            <a:off x="9115425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37AF38-5770-40E8-8A9D-E3D58D9AFFB1}"/>
              </a:ext>
            </a:extLst>
          </p:cNvPr>
          <p:cNvSpPr>
            <a:spLocks noGrp="1"/>
          </p:cNvSpPr>
          <p:nvPr/>
        </p:nvSpPr>
        <p:spPr>
          <a:xfrm>
            <a:off x="932497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pagination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249462B-E549-4737-B833-70CC41CBF3A1}"/>
              </a:ext>
            </a:extLst>
          </p:cNvPr>
          <p:cNvSpPr>
            <a:spLocks noGrp="1"/>
          </p:cNvSpPr>
          <p:nvPr/>
        </p:nvSpPr>
        <p:spPr>
          <a:xfrm>
            <a:off x="9115425" y="36671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B49EC0F-D365-4ABB-B074-BD406226311F}"/>
              </a:ext>
            </a:extLst>
          </p:cNvPr>
          <p:cNvSpPr>
            <a:spLocks noGrp="1"/>
          </p:cNvSpPr>
          <p:nvPr/>
        </p:nvSpPr>
        <p:spPr>
          <a:xfrm>
            <a:off x="932497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selected schedule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4DAE384-69DE-4FDA-AFFA-FBA0406798AF}"/>
              </a:ext>
            </a:extLst>
          </p:cNvPr>
          <p:cNvSpPr>
            <a:spLocks noGrp="1"/>
          </p:cNvSpPr>
          <p:nvPr/>
        </p:nvSpPr>
        <p:spPr>
          <a:xfrm>
            <a:off x="9115425" y="39909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4EB55FF-56CE-49F4-8507-1525CDEC27AA}"/>
              </a:ext>
            </a:extLst>
          </p:cNvPr>
          <p:cNvSpPr>
            <a:spLocks noGrp="1"/>
          </p:cNvSpPr>
          <p:nvPr/>
        </p:nvSpPr>
        <p:spPr>
          <a:xfrm>
            <a:off x="9324975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preview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0692F2-AA44-472A-942B-07A1E2F53E20}"/>
              </a:ext>
            </a:extLst>
          </p:cNvPr>
          <p:cNvSpPr>
            <a:spLocks noGrp="1"/>
          </p:cNvSpPr>
          <p:nvPr/>
        </p:nvSpPr>
        <p:spPr>
          <a:xfrm>
            <a:off x="9115425" y="43148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3479913-5A12-4189-A228-0451A3A495EF}"/>
              </a:ext>
            </a:extLst>
          </p:cNvPr>
          <p:cNvSpPr>
            <a:spLocks noGrp="1"/>
          </p:cNvSpPr>
          <p:nvPr/>
        </p:nvSpPr>
        <p:spPr>
          <a:xfrm>
            <a:off x="9324975" y="42291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459999F-9112-4612-B59C-F5D9242A6A28}"/>
              </a:ext>
            </a:extLst>
          </p:cNvPr>
          <p:cNvSpPr>
            <a:spLocks noGrp="1"/>
          </p:cNvSpPr>
          <p:nvPr/>
        </p:nvSpPr>
        <p:spPr>
          <a:xfrm>
            <a:off x="1676400" y="5429250"/>
            <a:ext cx="8839200" cy="41910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6DC8FE8-66A4-4A78-97ED-05F493CF09AD}"/>
              </a:ext>
            </a:extLst>
          </p:cNvPr>
          <p:cNvSpPr>
            <a:spLocks noGrp="1"/>
          </p:cNvSpPr>
          <p:nvPr/>
        </p:nvSpPr>
        <p:spPr>
          <a:xfrm>
            <a:off x="1962150" y="5543550"/>
            <a:ext cx="8267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The solver remains behind the CLI/process boundary.</a:t>
            </a:r>
          </a:p>
        </p:txBody>
      </p:sp>
    </p:spTree>
    <p:extLst>
      <p:ext uri="{BB962C8B-B14F-4D97-AF65-F5344CB8AC3E}">
        <p14:creationId xmlns:p14="http://schemas.microsoft.com/office/powerpoint/2010/main" val="139538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B7CAB02-9088-4D83-844C-725FF483D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D65638-DEAD-4319-A8E4-4EF21C0FE3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3C0BCA-3808-41A4-A1D6-2FD61A5F0BE5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27B7F-AEA0-4914-BFF1-BA6ABE5D4E52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D91B7-4FF5-4115-B963-2C4335B89FE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3F3E7-E5A2-497C-9558-CFFE978D42A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67BD8-9F8F-40AB-ADC0-774A0A18D6CC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1B60A-CFBA-441B-8B0E-8E8CC831A3AE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FD2551-297E-463E-8B1C-B67F3AD319D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FAE010-0431-453C-8494-4039FE39A49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44314C-CD7A-4B98-A76F-CE2C318202F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A18FD-84A3-4C74-AF6F-A32CF5200DE8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5D94F0-0C05-4DD9-9BC8-CF5295226717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C1FD9-8626-4FB3-B9CC-62913EFF352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AE79AB-BD4D-4ABF-92D5-28E0B6B67C0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B85B89-88D8-4EF1-9556-D40F5CF0409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5C10A1-34E7-4CA5-A82D-2E83E043877E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A6E27A-C6BB-4AB1-BC6B-771968AE2A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54DEE4-8690-47E7-AA55-6E35375E8736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3E32D5-FF4A-4633-A9E9-6438382EC714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36527B-A772-4AFE-A850-6D96BF0487CA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85EAD-EC4F-4109-BB0D-83499CC70F13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31406F-48D8-4F88-B3D5-9F18A979689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556F70-E887-4369-A9D8-FEB5EA0F919A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B66D61-F513-4D4C-87F1-DAA29CF3288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7267B9-F78A-42F4-AF51-9E55B469F9D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11E3F2-5989-45A3-85EB-2C37F9E643F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architecture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1520E6-A45C-4032-86FF-E17939C7ED5D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2B5A47-79DE-41B1-B3C2-8437E294A9E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EBAC89-C77E-444D-838E-3A7B2FEE8F9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087E30-AF00-4BE0-9EBD-C669340BF39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Dependencies move one way: UI -&gt; services -&gt; V1 backend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1560EE-B16D-4F94-9373-22646B700D77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reverse direction is blocked by tests and documentation.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143650-6828-45FF-A212-DAC447BC065F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2152650" cy="2381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87D975-4465-466C-B324-59CB34531339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" cy="2381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EEDE97-EB80-453D-B84B-C05330505869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PyQt6 UI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AC0D8A-7E6C-441B-B2A2-EE7A5858F248}"/>
              </a:ext>
            </a:extLst>
          </p:cNvPr>
          <p:cNvSpPr>
            <a:spLocks noGrp="1"/>
          </p:cNvSpPr>
          <p:nvPr/>
        </p:nvSpPr>
        <p:spPr>
          <a:xfrm>
            <a:off x="1181100" y="2952750"/>
            <a:ext cx="15811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src/ui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widgets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signals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navigation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screen state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22182-6E29-4AFF-84F0-1FB70E635515}"/>
              </a:ext>
            </a:extLst>
          </p:cNvPr>
          <p:cNvSpPr>
            <a:spLocks noGrp="1"/>
          </p:cNvSpPr>
          <p:nvPr/>
        </p:nvSpPr>
        <p:spPr>
          <a:xfrm>
            <a:off x="3143250" y="3429000"/>
            <a:ext cx="36195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B19B1AFE-EE78-4463-BA75-DC0D75C0A650}"/>
              </a:ext>
            </a:extLst>
          </p:cNvPr>
          <p:cNvSpPr>
            <a:spLocks noGrp="1"/>
          </p:cNvSpPr>
          <p:nvPr/>
        </p:nvSpPr>
        <p:spPr>
          <a:xfrm>
            <a:off x="3505200" y="33718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A4740-9168-4260-8115-245DBB1E52FC}"/>
              </a:ext>
            </a:extLst>
          </p:cNvPr>
          <p:cNvSpPr>
            <a:spLocks noGrp="1"/>
          </p:cNvSpPr>
          <p:nvPr/>
        </p:nvSpPr>
        <p:spPr>
          <a:xfrm>
            <a:off x="3676650" y="2286000"/>
            <a:ext cx="2152650" cy="2381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1C656-EB6F-4EB9-B956-EB9F94EBC5C7}"/>
              </a:ext>
            </a:extLst>
          </p:cNvPr>
          <p:cNvSpPr>
            <a:spLocks noGrp="1"/>
          </p:cNvSpPr>
          <p:nvPr/>
        </p:nvSpPr>
        <p:spPr>
          <a:xfrm>
            <a:off x="3676650" y="2286000"/>
            <a:ext cx="57150" cy="2381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2D4F1E-5742-45A6-9198-4DA8726F45F4}"/>
              </a:ext>
            </a:extLst>
          </p:cNvPr>
          <p:cNvSpPr>
            <a:spLocks noGrp="1"/>
          </p:cNvSpPr>
          <p:nvPr/>
        </p:nvSpPr>
        <p:spPr>
          <a:xfrm>
            <a:off x="3886200" y="24574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8FC59B-EECC-457E-9308-E94C2DA83654}"/>
              </a:ext>
            </a:extLst>
          </p:cNvPr>
          <p:cNvSpPr>
            <a:spLocks noGrp="1"/>
          </p:cNvSpPr>
          <p:nvPr/>
        </p:nvSpPr>
        <p:spPr>
          <a:xfrm>
            <a:off x="3962400" y="2952750"/>
            <a:ext cx="15811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src/services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file loading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input state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CLI args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A5232AA-0A66-4C76-8398-CFB5A541F2EF}"/>
              </a:ext>
            </a:extLst>
          </p:cNvPr>
          <p:cNvSpPr>
            <a:spLocks noGrp="1"/>
          </p:cNvSpPr>
          <p:nvPr/>
        </p:nvSpPr>
        <p:spPr>
          <a:xfrm>
            <a:off x="5924550" y="3429000"/>
            <a:ext cx="361950" cy="28575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375468C2-77A0-4E65-9569-1FB9EC3A654D}"/>
              </a:ext>
            </a:extLst>
          </p:cNvPr>
          <p:cNvSpPr>
            <a:spLocks noGrp="1"/>
          </p:cNvSpPr>
          <p:nvPr/>
        </p:nvSpPr>
        <p:spPr>
          <a:xfrm>
            <a:off x="6286500" y="3371850"/>
            <a:ext cx="114300" cy="142875"/>
          </a:xfrm>
          <a:prstGeom prst="triangle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694649-0706-46BB-BBE6-E96B4BBD90A4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2152650" cy="2381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9847DC-BF63-4FAC-876B-DC29DB832A3F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57150" cy="2381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DFDB1A-3D80-4E9F-BC79-A43316E8B274}"/>
              </a:ext>
            </a:extLst>
          </p:cNvPr>
          <p:cNvSpPr>
            <a:spLocks noGrp="1"/>
          </p:cNvSpPr>
          <p:nvPr/>
        </p:nvSpPr>
        <p:spPr>
          <a:xfrm>
            <a:off x="6667500" y="24574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QProcess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72069E-1877-451B-912F-A02EE30F40AE}"/>
              </a:ext>
            </a:extLst>
          </p:cNvPr>
          <p:cNvSpPr>
            <a:spLocks noGrp="1"/>
          </p:cNvSpPr>
          <p:nvPr/>
        </p:nvSpPr>
        <p:spPr>
          <a:xfrm>
            <a:off x="6743700" y="2952750"/>
            <a:ext cx="15811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local child process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stdin/stdout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NEXT/STOP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61E2B1-8368-445F-84FF-7C20A6BE1AD7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361950" cy="28575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BA0D9A1B-8222-4B3C-9B35-5FF4E4FC575F}"/>
              </a:ext>
            </a:extLst>
          </p:cNvPr>
          <p:cNvSpPr>
            <a:spLocks noGrp="1"/>
          </p:cNvSpPr>
          <p:nvPr/>
        </p:nvSpPr>
        <p:spPr>
          <a:xfrm>
            <a:off x="9067800" y="3371850"/>
            <a:ext cx="114300" cy="142875"/>
          </a:xfrm>
          <a:prstGeom prst="triangle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69A7A5-8B47-466D-ADF0-1F96CD44E178}"/>
              </a:ext>
            </a:extLst>
          </p:cNvPr>
          <p:cNvSpPr>
            <a:spLocks noGrp="1"/>
          </p:cNvSpPr>
          <p:nvPr/>
        </p:nvSpPr>
        <p:spPr>
          <a:xfrm>
            <a:off x="9239250" y="2286000"/>
            <a:ext cx="2152650" cy="2381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EBBD31-14CD-4AC3-B75A-42C3C44AD261}"/>
              </a:ext>
            </a:extLst>
          </p:cNvPr>
          <p:cNvSpPr>
            <a:spLocks noGrp="1"/>
          </p:cNvSpPr>
          <p:nvPr/>
        </p:nvSpPr>
        <p:spPr>
          <a:xfrm>
            <a:off x="9239250" y="2286000"/>
            <a:ext cx="57150" cy="2381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4EC017-F2FA-4709-BCD4-4867E7025536}"/>
              </a:ext>
            </a:extLst>
          </p:cNvPr>
          <p:cNvSpPr>
            <a:spLocks noGrp="1"/>
          </p:cNvSpPr>
          <p:nvPr/>
        </p:nvSpPr>
        <p:spPr>
          <a:xfrm>
            <a:off x="9448800" y="24574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V1 application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B0DD7E-2771-4979-9617-7578C3FF6533}"/>
              </a:ext>
            </a:extLst>
          </p:cNvPr>
          <p:cNvSpPr>
            <a:spLocks noGrp="1"/>
          </p:cNvSpPr>
          <p:nvPr/>
        </p:nvSpPr>
        <p:spPr>
          <a:xfrm>
            <a:off x="9525000" y="2952750"/>
            <a:ext cx="15811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main.py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workflow.py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parser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rules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solver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9131014-240C-4696-977E-9F003424C45E}"/>
              </a:ext>
            </a:extLst>
          </p:cNvPr>
          <p:cNvSpPr>
            <a:spLocks noGrp="1"/>
          </p:cNvSpPr>
          <p:nvPr/>
        </p:nvSpPr>
        <p:spPr>
          <a:xfrm>
            <a:off x="1657350" y="5238750"/>
            <a:ext cx="887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AFF"/>
                </a:solidFill>
                <a:latin typeface="Aptos"/>
                <a:ea typeface="Aptos"/>
                <a:cs typeface="Aptos"/>
              </a:rPr>
              <a:t>Boundary rule: UI modules may import services; V1 backend modules must not import src/ui, UI helpers, or PyQt6.</a:t>
            </a:r>
          </a:p>
        </p:txBody>
      </p:sp>
    </p:spTree>
    <p:extLst>
      <p:ext uri="{BB962C8B-B14F-4D97-AF65-F5344CB8AC3E}">
        <p14:creationId xmlns:p14="http://schemas.microsoft.com/office/powerpoint/2010/main" val="1621833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E9111988-093C-4BCA-A876-FBACFF128F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A69F94-077D-4F78-89EC-3407B69D9D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142BB-E879-45E4-80E4-E0A8037305BB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E26812-7929-4BFE-BAB7-E864F9D6834E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46C1C-9FEF-4252-9DC5-0A23C050298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E24B4-54B0-497F-8D6F-7C2CB82AFC9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6EB0B4-8ED6-4CBA-8A57-99DAB117D4BC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15D666-775E-46ED-8FB3-6F20DA1CCEA2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0442E-7D98-466D-AE5F-18A1DA0F9EB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2B5426-2983-4B50-8051-4A0F47F4C23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5A8CCF-F7C1-4E73-9C59-E42A6ED4CBD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E34D8-C8B0-414F-982B-90877DAEE694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B10AD-089F-453F-8435-D8F79229D08D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650F2F-F233-422D-BBB5-C68B268F481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C7BEDF-875B-4540-BCAE-DE141BEA1897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32C1CB-D8F7-494B-99C6-78F4048173A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BFE6F5-ED67-4132-B9A1-1A6FC31299C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812342-42A0-4692-B728-D803F7E183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612227-DFCF-4B09-82E9-78046FF6B1B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526985-807B-4123-B301-99CA681AD84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983B1-5689-4038-8CD9-6D6DDA1290DD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669D69-23BE-4D37-932B-EAEF5FA2454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80AACE-7D78-4BE2-A10A-31A26BF3528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8936BA-FC29-49FE-9EE9-9084A2E66E5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50CEAB-D77D-46EE-B525-8BAE38985C2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8177F6-B3D7-4579-BFDC-0E779968A01E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3AC9B8-1915-4BEC-8640-C56C85147A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data flow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0C20C1-3728-4DB9-AD38-81A65C42740C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529E39-5D33-4572-BB09-52F186CAA25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54DEA4-E04A-4608-B160-5F8AD35AD19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027EDC-45C1-4D83-AA5F-65795B4B6AB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User choices become runtime files; backend text becomes UI models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4739E4-C6AB-4D08-A17A-3B58E5248664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This preserves the V1 file-based contract while giving the GUI richer behavior.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365913-1955-4040-A7E8-A785196A2EB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466850" cy="1714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529092-9D4F-4F76-8AD2-0CF8919B444E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57150" cy="17145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800830-6874-48A9-9A04-31987E273706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UI state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0A02EC-1AD1-43F3-9C52-640078FE76D3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1123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selected programs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edits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period dates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B11BFE-B2DA-4FF0-9EC1-9807F6A6E09D}"/>
              </a:ext>
            </a:extLst>
          </p:cNvPr>
          <p:cNvSpPr>
            <a:spLocks noGrp="1"/>
          </p:cNvSpPr>
          <p:nvPr/>
        </p:nvSpPr>
        <p:spPr>
          <a:xfrm>
            <a:off x="2209800" y="3238500"/>
            <a:ext cx="1524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C20E2876-3DBF-4D7E-80E9-908273BB30AB}"/>
              </a:ext>
            </a:extLst>
          </p:cNvPr>
          <p:cNvSpPr>
            <a:spLocks noGrp="1"/>
          </p:cNvSpPr>
          <p:nvPr/>
        </p:nvSpPr>
        <p:spPr>
          <a:xfrm>
            <a:off x="2362200" y="31813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AEC351-1058-42A5-8D60-E4920A4D6F26}"/>
              </a:ext>
            </a:extLst>
          </p:cNvPr>
          <p:cNvSpPr>
            <a:spLocks noGrp="1"/>
          </p:cNvSpPr>
          <p:nvPr/>
        </p:nvSpPr>
        <p:spPr>
          <a:xfrm>
            <a:off x="2533650" y="2381250"/>
            <a:ext cx="1466850" cy="1714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4DBFEF-60F8-4F69-BA87-A937B4739319}"/>
              </a:ext>
            </a:extLst>
          </p:cNvPr>
          <p:cNvSpPr>
            <a:spLocks noGrp="1"/>
          </p:cNvSpPr>
          <p:nvPr/>
        </p:nvSpPr>
        <p:spPr>
          <a:xfrm>
            <a:off x="2533650" y="2381250"/>
            <a:ext cx="57150" cy="17145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C102E3-ADC7-4C8A-A24B-A15B360CC814}"/>
              </a:ext>
            </a:extLst>
          </p:cNvPr>
          <p:cNvSpPr>
            <a:spLocks noGrp="1"/>
          </p:cNvSpPr>
          <p:nvPr/>
        </p:nvSpPr>
        <p:spPr>
          <a:xfrm>
            <a:off x="2743200" y="25527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Runtime files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DF7800-F3AB-49EB-A071-E11AAD6FBCEA}"/>
              </a:ext>
            </a:extLst>
          </p:cNvPr>
          <p:cNvSpPr>
            <a:spLocks noGrp="1"/>
          </p:cNvSpPr>
          <p:nvPr/>
        </p:nvSpPr>
        <p:spPr>
          <a:xfrm>
            <a:off x="2705100" y="2990850"/>
            <a:ext cx="1123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ui_courses.txt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ui_exam_dates.txt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ui_selected_programs.txt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E73D0A-F3A8-4514-8644-C82610803FE1}"/>
              </a:ext>
            </a:extLst>
          </p:cNvPr>
          <p:cNvSpPr>
            <a:spLocks noGrp="1"/>
          </p:cNvSpPr>
          <p:nvPr/>
        </p:nvSpPr>
        <p:spPr>
          <a:xfrm>
            <a:off x="4076700" y="3238500"/>
            <a:ext cx="1524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F4344DC-9F37-425C-9CC3-8EBF68201F9B}"/>
              </a:ext>
            </a:extLst>
          </p:cNvPr>
          <p:cNvSpPr>
            <a:spLocks noGrp="1"/>
          </p:cNvSpPr>
          <p:nvPr/>
        </p:nvSpPr>
        <p:spPr>
          <a:xfrm>
            <a:off x="4229100" y="31813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D7701D-DD03-4CB1-8242-93B39256AC6B}"/>
              </a:ext>
            </a:extLst>
          </p:cNvPr>
          <p:cNvSpPr>
            <a:spLocks noGrp="1"/>
          </p:cNvSpPr>
          <p:nvPr/>
        </p:nvSpPr>
        <p:spPr>
          <a:xfrm>
            <a:off x="4400550" y="2381250"/>
            <a:ext cx="1466850" cy="1714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A705AE-EE60-4250-8DD3-716D32451B84}"/>
              </a:ext>
            </a:extLst>
          </p:cNvPr>
          <p:cNvSpPr>
            <a:spLocks noGrp="1"/>
          </p:cNvSpPr>
          <p:nvPr/>
        </p:nvSpPr>
        <p:spPr>
          <a:xfrm>
            <a:off x="4400550" y="2381250"/>
            <a:ext cx="57150" cy="17145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176CE4-94BD-4CEE-9B7C-65CBF6246674}"/>
              </a:ext>
            </a:extLst>
          </p:cNvPr>
          <p:cNvSpPr>
            <a:spLocks noGrp="1"/>
          </p:cNvSpPr>
          <p:nvPr/>
        </p:nvSpPr>
        <p:spPr>
          <a:xfrm>
            <a:off x="4610100" y="25527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CLI command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84A6CF-5AF9-47B2-B427-33B930D7FA51}"/>
              </a:ext>
            </a:extLst>
          </p:cNvPr>
          <p:cNvSpPr>
            <a:spLocks noGrp="1"/>
          </p:cNvSpPr>
          <p:nvPr/>
        </p:nvSpPr>
        <p:spPr>
          <a:xfrm>
            <a:off x="4572000" y="2990850"/>
            <a:ext cx="1123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main.py --mode auto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--lazy-schedules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7BA816-05E6-4EFA-BF0B-F4F6CFA33E05}"/>
              </a:ext>
            </a:extLst>
          </p:cNvPr>
          <p:cNvSpPr>
            <a:spLocks noGrp="1"/>
          </p:cNvSpPr>
          <p:nvPr/>
        </p:nvSpPr>
        <p:spPr>
          <a:xfrm>
            <a:off x="5943600" y="3238500"/>
            <a:ext cx="1524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533C3E-5D88-4AE1-A00D-A885B400FAEA}"/>
              </a:ext>
            </a:extLst>
          </p:cNvPr>
          <p:cNvSpPr>
            <a:spLocks noGrp="1"/>
          </p:cNvSpPr>
          <p:nvPr/>
        </p:nvSpPr>
        <p:spPr>
          <a:xfrm>
            <a:off x="6096000" y="31813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7B2F58-FFC1-4A8C-A248-CA3AE558225B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1466850" cy="1714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B7DFC0-4024-4640-A05C-2CEEB753F8B5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57150" cy="17145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30BAA-9244-489B-A7A7-AC6F04FC5CBD}"/>
              </a:ext>
            </a:extLst>
          </p:cNvPr>
          <p:cNvSpPr>
            <a:spLocks noGrp="1"/>
          </p:cNvSpPr>
          <p:nvPr/>
        </p:nvSpPr>
        <p:spPr>
          <a:xfrm>
            <a:off x="6477000" y="25527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V1 workflow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ACBDE4-B457-4EA6-81E4-DB2C274E3A22}"/>
              </a:ext>
            </a:extLst>
          </p:cNvPr>
          <p:cNvSpPr>
            <a:spLocks noGrp="1"/>
          </p:cNvSpPr>
          <p:nvPr/>
        </p:nvSpPr>
        <p:spPr>
          <a:xfrm>
            <a:off x="6438900" y="2990850"/>
            <a:ext cx="1123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parse, filter,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schedule, format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DCD32C-95CE-416E-B9EE-531A87BBBBD5}"/>
              </a:ext>
            </a:extLst>
          </p:cNvPr>
          <p:cNvSpPr>
            <a:spLocks noGrp="1"/>
          </p:cNvSpPr>
          <p:nvPr/>
        </p:nvSpPr>
        <p:spPr>
          <a:xfrm>
            <a:off x="7810500" y="3238500"/>
            <a:ext cx="1524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0A68E2C5-B928-4F74-8D47-47817D84136C}"/>
              </a:ext>
            </a:extLst>
          </p:cNvPr>
          <p:cNvSpPr>
            <a:spLocks noGrp="1"/>
          </p:cNvSpPr>
          <p:nvPr/>
        </p:nvSpPr>
        <p:spPr>
          <a:xfrm>
            <a:off x="7962900" y="31813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C3CCC73-7D21-4097-BD28-70F01F5A80C2}"/>
              </a:ext>
            </a:extLst>
          </p:cNvPr>
          <p:cNvSpPr>
            <a:spLocks noGrp="1"/>
          </p:cNvSpPr>
          <p:nvPr/>
        </p:nvSpPr>
        <p:spPr>
          <a:xfrm>
            <a:off x="8134350" y="2381250"/>
            <a:ext cx="1466850" cy="1714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E08858-3D94-4844-9D82-23B12CB84D7E}"/>
              </a:ext>
            </a:extLst>
          </p:cNvPr>
          <p:cNvSpPr>
            <a:spLocks noGrp="1"/>
          </p:cNvSpPr>
          <p:nvPr/>
        </p:nvSpPr>
        <p:spPr>
          <a:xfrm>
            <a:off x="8134350" y="2381250"/>
            <a:ext cx="57150" cy="17145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74BDADF-1038-4A49-A814-00B163C46909}"/>
              </a:ext>
            </a:extLst>
          </p:cNvPr>
          <p:cNvSpPr>
            <a:spLocks noGrp="1"/>
          </p:cNvSpPr>
          <p:nvPr/>
        </p:nvSpPr>
        <p:spPr>
          <a:xfrm>
            <a:off x="8343900" y="25527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stdout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AD47E3B-B831-401D-8633-654A440B92CE}"/>
              </a:ext>
            </a:extLst>
          </p:cNvPr>
          <p:cNvSpPr>
            <a:spLocks noGrp="1"/>
          </p:cNvSpPr>
          <p:nvPr/>
        </p:nvSpPr>
        <p:spPr>
          <a:xfrm>
            <a:off x="8305800" y="2990850"/>
            <a:ext cx="1123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summary lines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schedule blocks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batch marker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BD37A14-0EB5-444B-9101-4836A180CD2F}"/>
              </a:ext>
            </a:extLst>
          </p:cNvPr>
          <p:cNvSpPr>
            <a:spLocks noGrp="1"/>
          </p:cNvSpPr>
          <p:nvPr/>
        </p:nvSpPr>
        <p:spPr>
          <a:xfrm>
            <a:off x="9677400" y="3238500"/>
            <a:ext cx="152400" cy="28575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6A2A4CCB-64E7-4975-9E52-95F07F004880}"/>
              </a:ext>
            </a:extLst>
          </p:cNvPr>
          <p:cNvSpPr>
            <a:spLocks noGrp="1"/>
          </p:cNvSpPr>
          <p:nvPr/>
        </p:nvSpPr>
        <p:spPr>
          <a:xfrm>
            <a:off x="9829800" y="3181350"/>
            <a:ext cx="114300" cy="142875"/>
          </a:xfrm>
          <a:prstGeom prst="triangle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4B5B494-BF86-4342-81FE-611D1F48EABE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466850" cy="1714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C2D78A-1D0B-46EA-89D5-85B5B381F0B6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57150" cy="17145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2F5656-812E-4BE2-BBD7-A7BCC8C5B422}"/>
              </a:ext>
            </a:extLst>
          </p:cNvPr>
          <p:cNvSpPr>
            <a:spLocks noGrp="1"/>
          </p:cNvSpPr>
          <p:nvPr/>
        </p:nvSpPr>
        <p:spPr>
          <a:xfrm>
            <a:off x="10210800" y="25527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UI models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49BDCA-1BD0-42A0-A41E-09568D0BF6EC}"/>
              </a:ext>
            </a:extLst>
          </p:cNvPr>
          <p:cNvSpPr>
            <a:spLocks noGrp="1"/>
          </p:cNvSpPr>
          <p:nvPr/>
        </p:nvSpPr>
        <p:spPr>
          <a:xfrm>
            <a:off x="10172700" y="2990850"/>
            <a:ext cx="1123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parser adapter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cache</a:t>
            </a:r>
          </a:p>
          <a:p>
            <a:pPr algn="ctr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cells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2A65915-1D9D-4EC1-BA1D-8DCAB5F4B59B}"/>
              </a:ext>
            </a:extLst>
          </p:cNvPr>
          <p:cNvSpPr>
            <a:spLocks noGrp="1"/>
          </p:cNvSpPr>
          <p:nvPr/>
        </p:nvSpPr>
        <p:spPr>
          <a:xfrm>
            <a:off x="1657350" y="5067300"/>
            <a:ext cx="8877300" cy="55245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5FDA0FB-D758-40ED-B58C-6C7CCA6D7411}"/>
              </a:ext>
            </a:extLst>
          </p:cNvPr>
          <p:cNvSpPr>
            <a:spLocks noGrp="1"/>
          </p:cNvSpPr>
          <p:nvPr/>
        </p:nvSpPr>
        <p:spPr>
          <a:xfrm>
            <a:off x="1943100" y="5181600"/>
            <a:ext cx="8305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Design reason: local files and local pipes. No HTTP server, no hidden network dependency, no solver inside widget code.</a:t>
            </a:r>
          </a:p>
        </p:txBody>
      </p:sp>
    </p:spTree>
    <p:extLst>
      <p:ext uri="{BB962C8B-B14F-4D97-AF65-F5344CB8AC3E}">
        <p14:creationId xmlns:p14="http://schemas.microsoft.com/office/powerpoint/2010/main" val="145639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89583F4-9318-4402-8345-B555737327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B9CD3B-DC85-4104-BF10-03B9ED632F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646FC9-21F8-41E6-BDED-AFFB00F4C4E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5AB66-453C-4EB1-8B06-2A43E28AF3EC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0B92DD-8D78-48CF-8571-FDBA280D9AF7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1DE75-66AF-43AD-A5AA-FEE3FFB6FEF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493AF-052B-40F1-9D75-AB8DE9030BC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DC623-2CB2-4216-99AC-2B00158B05A0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3925E-DEBA-4788-B5EC-FC22746D319C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3EF70C-EBE7-492F-AC68-3EF6D1078C8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ADAEC-997A-47AF-A0DC-B82417EB54DF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2167D9-88F6-4160-B97C-20E1EA6739A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2C99D5-C1FF-4490-B354-B42D015A24F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3FE29-2B22-44A3-B0C1-BEDA3397DD0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1BC37B-5CCC-46BC-85A2-2AB4C6FD78DE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64C4B-1EAF-4BA7-9379-308EB082E273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FE79F6-A1C6-43C0-8F84-5870615F475F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2DEF54-7C54-421E-A7F0-2F58DF0212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7413D3-0231-4FCB-8646-8804E179953C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4F433A-B8A3-480F-93CF-AF909C81AD8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3CA774-CBA6-4FF3-9B44-AADE91E685F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F97E55-8F88-42A0-992E-B821A3D5838C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B58F73-DDC2-4A8F-8E39-025C8BE8AB9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5176F3-9B46-4196-B02C-12F71BC91BF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C6CD1C-3AB0-42FD-9E5A-471A783FC12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D7E518-9025-4DF8-8F5D-5F45C991CB25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DE14F8-3A9A-4763-9BDF-6436F6756F5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lazy paging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E96F72-4AE5-4863-BD9D-7CB53DC3FEC0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E381A3-3BF9-425B-8662-5918FA9F7B3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9D0503-2B3F-41EE-BDE8-BE478B1EDF05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C995BB-4B9A-424A-8DA8-F5F0DF975BC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Lazy paging turns a huge output space into a controlled conversation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450969-4637-4826-BDA2-C2B254999985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process writes one batch, waits for NEXT, and stops on STOP or screen exit.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0B9A15-B9D4-4CB5-9465-796D5E1B3E57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28600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3CCFE7-5D47-4276-AF1A-BE513225FB07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57150" cy="14668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AC6B4C-98A1-4886-914A-0239424ECDF1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4C87FA-DB6F-4EF5-B5E8-06656D83AAF6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request another batch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2EA2B5-5D13-4316-9592-808E5540A7CD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UI asks the still-running process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CC6679-CC0A-415A-BF99-0CA8F272AD38}"/>
              </a:ext>
            </a:extLst>
          </p:cNvPr>
          <p:cNvSpPr>
            <a:spLocks noGrp="1"/>
          </p:cNvSpPr>
          <p:nvPr/>
        </p:nvSpPr>
        <p:spPr>
          <a:xfrm>
            <a:off x="3524250" y="2324100"/>
            <a:ext cx="228600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0DFF30-7108-4CBD-AAEB-8F29BE4B7DF5}"/>
              </a:ext>
            </a:extLst>
          </p:cNvPr>
          <p:cNvSpPr>
            <a:spLocks noGrp="1"/>
          </p:cNvSpPr>
          <p:nvPr/>
        </p:nvSpPr>
        <p:spPr>
          <a:xfrm>
            <a:off x="3524250" y="2324100"/>
            <a:ext cx="57150" cy="146685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BBACF1-ACFB-4EA5-BE3B-5D759862B51C}"/>
              </a:ext>
            </a:extLst>
          </p:cNvPr>
          <p:cNvSpPr>
            <a:spLocks noGrp="1"/>
          </p:cNvSpPr>
          <p:nvPr/>
        </p:nvSpPr>
        <p:spPr>
          <a:xfrm>
            <a:off x="3714750" y="251460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37C9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7C90"/>
                </a:solidFill>
                <a:latin typeface="Aptos Display"/>
                <a:ea typeface="Aptos Display"/>
                <a:cs typeface="Aptos Display"/>
              </a:rPr>
              <a:t>STOP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FA7328-AD5F-46B0-980E-9E5C5354C1EE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cancel or leave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DAFEC4-1EAA-4648-AB38-8119972A8901}"/>
              </a:ext>
            </a:extLst>
          </p:cNvPr>
          <p:cNvSpPr>
            <a:spLocks noGrp="1"/>
          </p:cNvSpPr>
          <p:nvPr/>
        </p:nvSpPr>
        <p:spPr>
          <a:xfrm>
            <a:off x="3714750" y="32575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stream closes cleanly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52EE7C-4861-4B0C-9B14-D7C4561CED6C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228600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5316C0-31C1-499C-B44C-E626B6375A20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57150" cy="14668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6D8DBDA-5989-4ECB-A2C6-3963FBA5D3AD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B95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B955"/>
                </a:solidFill>
                <a:latin typeface="Aptos Display"/>
                <a:ea typeface="Aptos Display"/>
                <a:cs typeface="Aptos Display"/>
              </a:rPr>
              <a:t>BATCH_END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1CEB6B-004F-4FB9-B074-8E6E55170EA4}"/>
              </a:ext>
            </a:extLst>
          </p:cNvPr>
          <p:cNvSpPr>
            <a:spLocks noGrp="1"/>
          </p:cNvSpPr>
          <p:nvPr/>
        </p:nvSpPr>
        <p:spPr>
          <a:xfrm>
            <a:off x="6381750" y="29908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page complete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105283-7526-4836-833F-4C2933680251}"/>
              </a:ext>
            </a:extLst>
          </p:cNvPr>
          <p:cNvSpPr>
            <a:spLocks noGrp="1"/>
          </p:cNvSpPr>
          <p:nvPr/>
        </p:nvSpPr>
        <p:spPr>
          <a:xfrm>
            <a:off x="6381750" y="32575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parser knows page boundary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AC6DF1-2E20-444E-95FC-87267FEFE63A}"/>
              </a:ext>
            </a:extLst>
          </p:cNvPr>
          <p:cNvSpPr>
            <a:spLocks noGrp="1"/>
          </p:cNvSpPr>
          <p:nvPr/>
        </p:nvSpPr>
        <p:spPr>
          <a:xfrm>
            <a:off x="8858250" y="2324100"/>
            <a:ext cx="228600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1DDFB77-C8C9-4290-A7AD-754E7A8275B9}"/>
              </a:ext>
            </a:extLst>
          </p:cNvPr>
          <p:cNvSpPr>
            <a:spLocks noGrp="1"/>
          </p:cNvSpPr>
          <p:nvPr/>
        </p:nvSpPr>
        <p:spPr>
          <a:xfrm>
            <a:off x="8858250" y="2324100"/>
            <a:ext cx="57150" cy="14668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21A2F59-663D-449C-BF26-FC1E4E858862}"/>
              </a:ext>
            </a:extLst>
          </p:cNvPr>
          <p:cNvSpPr>
            <a:spLocks noGrp="1"/>
          </p:cNvSpPr>
          <p:nvPr/>
        </p:nvSpPr>
        <p:spPr>
          <a:xfrm>
            <a:off x="9048750" y="251460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rPr>
              <a:t>1,000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5E59DAE-142A-4E50-8A31-0440A439DACF}"/>
              </a:ext>
            </a:extLst>
          </p:cNvPr>
          <p:cNvSpPr>
            <a:spLocks noGrp="1"/>
          </p:cNvSpPr>
          <p:nvPr/>
        </p:nvSpPr>
        <p:spPr>
          <a:xfrm>
            <a:off x="9048750" y="29908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cache batch size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4CD2E1-A4E4-4181-8AAF-9A7DD5C5F0EF}"/>
              </a:ext>
            </a:extLst>
          </p:cNvPr>
          <p:cNvSpPr>
            <a:spLocks noGrp="1"/>
          </p:cNvSpPr>
          <p:nvPr/>
        </p:nvSpPr>
        <p:spPr>
          <a:xfrm>
            <a:off x="9048750" y="325755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default complete-system page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4E543C-9B28-42F7-B0E2-42B35CAFD728}"/>
              </a:ext>
            </a:extLst>
          </p:cNvPr>
          <p:cNvSpPr>
            <a:spLocks noGrp="1"/>
          </p:cNvSpPr>
          <p:nvPr/>
        </p:nvSpPr>
        <p:spPr>
          <a:xfrm>
            <a:off x="1581150" y="5105400"/>
            <a:ext cx="9029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Why this matters: the GUI remains responsive and memory-safe while the backend preserves exact complete-system counts.</a:t>
            </a:r>
          </a:p>
        </p:txBody>
      </p:sp>
    </p:spTree>
    <p:extLst>
      <p:ext uri="{BB962C8B-B14F-4D97-AF65-F5344CB8AC3E}">
        <p14:creationId xmlns:p14="http://schemas.microsoft.com/office/powerpoint/2010/main" val="65033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41353335-8363-4FD6-9E82-7498043B71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F0DC0-286A-4BE7-9918-4E3CC6B349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C411F4-FC03-41B1-8346-496573EDD19E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9345B3-62E1-44BB-ACF4-4D5264A16A7A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8A505-B71D-464E-983E-A3E61498ED4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BCC0B5-7C9C-4B5D-9CE4-D5F0AEAD2F4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DEF98-9E0D-4CCE-A0BB-5AE02FFF8DD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3C9CA-C87A-40DB-B720-CC0DD6A5EC7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36330F-3186-483B-8694-84D7FF609E00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73CEA7-06BB-4074-9D28-2D0CDF5C83B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E3590-AA26-4286-B29F-3DF83C46813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F390A6-3D90-48AB-9575-154D1553EB9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7797A1-84C2-4D02-9F5C-9FDAFDF3A33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2CBCCA-E3BE-4E81-BA09-B135F4753A8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B74F52-1E31-4448-9AC9-63C8DBE6E6A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6E6EA-3269-46B8-9B56-7AB09F9F630C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E26D40-5019-4673-961C-93A90B9BB0BA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1D7161-C842-433F-A54B-7065D08CFE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95F373-16BA-415A-A403-45386F4D2221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06B11D-C7C9-41FE-934F-CB2D3AE75D7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3EECA6-EAF8-458B-9105-3A46C982173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626419-D5B3-4180-810A-89588716C73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361BC-48C1-4FFE-A594-3EA936F47C8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60E8BD-197E-4784-99BC-EAAF450283EB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9B1CE0-FE8D-43B4-8E34-712CE45F902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DBAD76-1C7F-4D97-82D0-C5C372AA020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1D47F1-B66D-48FE-A099-3697A117018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services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3DACC1-4A66-4AF7-930F-2C8351CA7AAE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2595FE-5831-4B98-A7A9-5C9669E18C3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55FBF0-C13E-4079-90BC-4C420AC4026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CDC316-69B7-49CC-99B9-9968A6426E5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Services keep GUI code small and backend dependencies explicit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F94BD2-9FE1-4DD7-914B-5A9D77D73DA5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Each adapter exists because raw V1 files or text are not the shape desktop widgets need.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F38A31-A7C9-452D-95B3-7EFD1EDFBA65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247A29-EE88-4F80-912A-136B41FA207B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A57EC6-25A6-4D90-B555-FE5E432CAFF7}"/>
              </a:ext>
            </a:extLst>
          </p:cNvPr>
          <p:cNvSpPr>
            <a:spLocks noGrp="1"/>
          </p:cNvSpPr>
          <p:nvPr/>
        </p:nvSpPr>
        <p:spPr>
          <a:xfrm>
            <a:off x="933450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FileLoadingService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9BC36F-C047-4861-83F7-F3F40DAB2C27}"/>
              </a:ext>
            </a:extLst>
          </p:cNvPr>
          <p:cNvSpPr>
            <a:spLocks noGrp="1"/>
          </p:cNvSpPr>
          <p:nvPr/>
        </p:nvSpPr>
        <p:spPr>
          <a:xfrm>
            <a:off x="95250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C77A24-1F45-4369-9031-6DA1686A1AC3}"/>
              </a:ext>
            </a:extLst>
          </p:cNvPr>
          <p:cNvSpPr>
            <a:spLocks noGrp="1"/>
          </p:cNvSpPr>
          <p:nvPr/>
        </p:nvSpPr>
        <p:spPr>
          <a:xfrm>
            <a:off x="1162050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replace/update modes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2FB195-09D8-47EC-AC4E-FE7CE527B1EA}"/>
              </a:ext>
            </a:extLst>
          </p:cNvPr>
          <p:cNvSpPr>
            <a:spLocks noGrp="1"/>
          </p:cNvSpPr>
          <p:nvPr/>
        </p:nvSpPr>
        <p:spPr>
          <a:xfrm>
            <a:off x="95250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992135-AA0F-4903-8868-1E6E044405A9}"/>
              </a:ext>
            </a:extLst>
          </p:cNvPr>
          <p:cNvSpPr>
            <a:spLocks noGrp="1"/>
          </p:cNvSpPr>
          <p:nvPr/>
        </p:nvSpPr>
        <p:spPr>
          <a:xfrm>
            <a:off x="1162050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validates program IDs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1002E0-BFD2-48B2-AD73-3DA8A0E6D33B}"/>
              </a:ext>
            </a:extLst>
          </p:cNvPr>
          <p:cNvSpPr>
            <a:spLocks noGrp="1"/>
          </p:cNvSpPr>
          <p:nvPr/>
        </p:nvSpPr>
        <p:spPr>
          <a:xfrm>
            <a:off x="952500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681F5D-5B74-40A8-BE83-13C9F1BA30C4}"/>
              </a:ext>
            </a:extLst>
          </p:cNvPr>
          <p:cNvSpPr>
            <a:spLocks noGrp="1"/>
          </p:cNvSpPr>
          <p:nvPr/>
        </p:nvSpPr>
        <p:spPr>
          <a:xfrm>
            <a:off x="1162050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stores processed cache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69CE37-40B0-4C47-B64E-77CD9AD39625}"/>
              </a:ext>
            </a:extLst>
          </p:cNvPr>
          <p:cNvSpPr>
            <a:spLocks noGrp="1"/>
          </p:cNvSpPr>
          <p:nvPr/>
        </p:nvSpPr>
        <p:spPr>
          <a:xfrm>
            <a:off x="2943225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EC0C98-58F2-4257-AC85-8E2E559A2026}"/>
              </a:ext>
            </a:extLst>
          </p:cNvPr>
          <p:cNvSpPr>
            <a:spLocks noGrp="1"/>
          </p:cNvSpPr>
          <p:nvPr/>
        </p:nvSpPr>
        <p:spPr>
          <a:xfrm>
            <a:off x="2943225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BBA541-3A1E-42DC-BCAC-C945C05AB8F0}"/>
              </a:ext>
            </a:extLst>
          </p:cNvPr>
          <p:cNvSpPr>
            <a:spLocks noGrp="1"/>
          </p:cNvSpPr>
          <p:nvPr/>
        </p:nvSpPr>
        <p:spPr>
          <a:xfrm>
            <a:off x="3152775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SchedulerInputState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8A62F1-8ADF-4F92-81BE-AF874E9DCB33}"/>
              </a:ext>
            </a:extLst>
          </p:cNvPr>
          <p:cNvSpPr>
            <a:spLocks noGrp="1"/>
          </p:cNvSpPr>
          <p:nvPr/>
        </p:nvSpPr>
        <p:spPr>
          <a:xfrm>
            <a:off x="3171825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452386-4EB0-4ECF-B614-F53124A9549E}"/>
              </a:ext>
            </a:extLst>
          </p:cNvPr>
          <p:cNvSpPr>
            <a:spLocks noGrp="1"/>
          </p:cNvSpPr>
          <p:nvPr/>
        </p:nvSpPr>
        <p:spPr>
          <a:xfrm>
            <a:off x="3381375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selected programs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669DA7-A4C3-41BD-9CBB-976B2171A183}"/>
              </a:ext>
            </a:extLst>
          </p:cNvPr>
          <p:cNvSpPr>
            <a:spLocks noGrp="1"/>
          </p:cNvSpPr>
          <p:nvPr/>
        </p:nvSpPr>
        <p:spPr>
          <a:xfrm>
            <a:off x="3171825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22CBE8-DD9B-4335-B6C4-7470009DEBF6}"/>
              </a:ext>
            </a:extLst>
          </p:cNvPr>
          <p:cNvSpPr>
            <a:spLocks noGrp="1"/>
          </p:cNvSpPr>
          <p:nvPr/>
        </p:nvSpPr>
        <p:spPr>
          <a:xfrm>
            <a:off x="3381375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edits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9DBB81-6E02-4751-9FBC-BED857FE1B96}"/>
              </a:ext>
            </a:extLst>
          </p:cNvPr>
          <p:cNvSpPr>
            <a:spLocks noGrp="1"/>
          </p:cNvSpPr>
          <p:nvPr/>
        </p:nvSpPr>
        <p:spPr>
          <a:xfrm>
            <a:off x="3171825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BC222B-385C-4B78-B727-6FA47A810DCF}"/>
              </a:ext>
            </a:extLst>
          </p:cNvPr>
          <p:cNvSpPr>
            <a:spLocks noGrp="1"/>
          </p:cNvSpPr>
          <p:nvPr/>
        </p:nvSpPr>
        <p:spPr>
          <a:xfrm>
            <a:off x="3381375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runtime input files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63D6F03-D98D-47B9-8C77-398EEC237643}"/>
              </a:ext>
            </a:extLst>
          </p:cNvPr>
          <p:cNvSpPr>
            <a:spLocks noGrp="1"/>
          </p:cNvSpPr>
          <p:nvPr/>
        </p:nvSpPr>
        <p:spPr>
          <a:xfrm>
            <a:off x="5162550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375FD6-5913-4EC5-9AA3-A4AE5F2702E6}"/>
              </a:ext>
            </a:extLst>
          </p:cNvPr>
          <p:cNvSpPr>
            <a:spLocks noGrp="1"/>
          </p:cNvSpPr>
          <p:nvPr/>
        </p:nvSpPr>
        <p:spPr>
          <a:xfrm>
            <a:off x="5162550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312052-25F2-45B5-9718-0AE86BB08895}"/>
              </a:ext>
            </a:extLst>
          </p:cNvPr>
          <p:cNvSpPr>
            <a:spLocks noGrp="1"/>
          </p:cNvSpPr>
          <p:nvPr/>
        </p:nvSpPr>
        <p:spPr>
          <a:xfrm>
            <a:off x="5372100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OutputDataAdapter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CDC1E56-145A-4B71-95AB-2F56A954E8B5}"/>
              </a:ext>
            </a:extLst>
          </p:cNvPr>
          <p:cNvSpPr>
            <a:spLocks noGrp="1"/>
          </p:cNvSpPr>
          <p:nvPr/>
        </p:nvSpPr>
        <p:spPr>
          <a:xfrm>
            <a:off x="5391150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14BF6A-FE57-4B08-BCB4-5974A0E7F7A5}"/>
              </a:ext>
            </a:extLst>
          </p:cNvPr>
          <p:cNvSpPr>
            <a:spLocks noGrp="1"/>
          </p:cNvSpPr>
          <p:nvPr/>
        </p:nvSpPr>
        <p:spPr>
          <a:xfrm>
            <a:off x="5600700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text blocks to systems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2ADF72-FCE1-437D-94B4-231ACAFA8B9B}"/>
              </a:ext>
            </a:extLst>
          </p:cNvPr>
          <p:cNvSpPr>
            <a:spLocks noGrp="1"/>
          </p:cNvSpPr>
          <p:nvPr/>
        </p:nvSpPr>
        <p:spPr>
          <a:xfrm>
            <a:off x="5391150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E42F1D2-494D-4292-B48C-65C650C29B7E}"/>
              </a:ext>
            </a:extLst>
          </p:cNvPr>
          <p:cNvSpPr>
            <a:spLocks noGrp="1"/>
          </p:cNvSpPr>
          <p:nvPr/>
        </p:nvSpPr>
        <p:spPr>
          <a:xfrm>
            <a:off x="5600700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catalog metadata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2EF914A-02A4-42FF-B625-78B8FD6B3F80}"/>
              </a:ext>
            </a:extLst>
          </p:cNvPr>
          <p:cNvSpPr>
            <a:spLocks noGrp="1"/>
          </p:cNvSpPr>
          <p:nvPr/>
        </p:nvSpPr>
        <p:spPr>
          <a:xfrm>
            <a:off x="5391150" y="36671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0EA1D0-B78D-40DC-89A8-599F9C1A0893}"/>
              </a:ext>
            </a:extLst>
          </p:cNvPr>
          <p:cNvSpPr>
            <a:spLocks noGrp="1"/>
          </p:cNvSpPr>
          <p:nvPr/>
        </p:nvSpPr>
        <p:spPr>
          <a:xfrm>
            <a:off x="5600700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view models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2D7162-EF26-4079-A777-9044CB946581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4A5A0B-6160-42B1-B165-DEF0CF1C4BF8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3796621-27B3-4C2B-B036-283272AECD80}"/>
              </a:ext>
            </a:extLst>
          </p:cNvPr>
          <p:cNvSpPr>
            <a:spLocks noGrp="1"/>
          </p:cNvSpPr>
          <p:nvPr/>
        </p:nvSpPr>
        <p:spPr>
          <a:xfrm>
            <a:off x="7591425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ScheduleCache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0C523A-2B46-403F-A204-416546A4870F}"/>
              </a:ext>
            </a:extLst>
          </p:cNvPr>
          <p:cNvSpPr>
            <a:spLocks noGrp="1"/>
          </p:cNvSpPr>
          <p:nvPr/>
        </p:nvSpPr>
        <p:spPr>
          <a:xfrm>
            <a:off x="7610475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A38A859-B261-438E-A9B8-E391C540AB57}"/>
              </a:ext>
            </a:extLst>
          </p:cNvPr>
          <p:cNvSpPr>
            <a:spLocks noGrp="1"/>
          </p:cNvSpPr>
          <p:nvPr/>
        </p:nvSpPr>
        <p:spPr>
          <a:xfrm>
            <a:off x="7820025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fixed-size batches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77FB0A0-BEB5-4057-8689-D926D3DE979D}"/>
              </a:ext>
            </a:extLst>
          </p:cNvPr>
          <p:cNvSpPr>
            <a:spLocks noGrp="1"/>
          </p:cNvSpPr>
          <p:nvPr/>
        </p:nvSpPr>
        <p:spPr>
          <a:xfrm>
            <a:off x="7610475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6A1A7C7-6051-4794-BA96-D07A005B469B}"/>
              </a:ext>
            </a:extLst>
          </p:cNvPr>
          <p:cNvSpPr>
            <a:spLocks noGrp="1"/>
          </p:cNvSpPr>
          <p:nvPr/>
        </p:nvSpPr>
        <p:spPr>
          <a:xfrm>
            <a:off x="7820025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pagination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19B7A71-0D0C-43C8-966B-4767EEAC47B5}"/>
              </a:ext>
            </a:extLst>
          </p:cNvPr>
          <p:cNvSpPr>
            <a:spLocks noGrp="1"/>
          </p:cNvSpPr>
          <p:nvPr/>
        </p:nvSpPr>
        <p:spPr>
          <a:xfrm>
            <a:off x="7610475" y="36671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811004-CAC3-4F86-832E-77ABE7205653}"/>
              </a:ext>
            </a:extLst>
          </p:cNvPr>
          <p:cNvSpPr>
            <a:spLocks noGrp="1"/>
          </p:cNvSpPr>
          <p:nvPr/>
        </p:nvSpPr>
        <p:spPr>
          <a:xfrm>
            <a:off x="7820025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reload unchanged data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16E4267-A9BB-42B9-9F5A-B02CF3F67DCC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EDA36E8-A2D5-4BA7-921C-9A9ED45F2EB4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57150" cy="276225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109A53E-0CC9-4081-85CE-075C08B7AC8B}"/>
              </a:ext>
            </a:extLst>
          </p:cNvPr>
          <p:cNvSpPr>
            <a:spLocks noGrp="1"/>
          </p:cNvSpPr>
          <p:nvPr/>
        </p:nvSpPr>
        <p:spPr>
          <a:xfrm>
            <a:off x="9810750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FileWriter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4E8C687-B6B3-4BE9-9180-4CDA59E2D662}"/>
              </a:ext>
            </a:extLst>
          </p:cNvPr>
          <p:cNvSpPr>
            <a:spLocks noGrp="1"/>
          </p:cNvSpPr>
          <p:nvPr/>
        </p:nvSpPr>
        <p:spPr>
          <a:xfrm>
            <a:off x="9829800" y="3019425"/>
            <a:ext cx="76200" cy="762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79C65B9-61E3-45FF-BD0C-82E1251FEF52}"/>
              </a:ext>
            </a:extLst>
          </p:cNvPr>
          <p:cNvSpPr>
            <a:spLocks noGrp="1"/>
          </p:cNvSpPr>
          <p:nvPr/>
        </p:nvSpPr>
        <p:spPr>
          <a:xfrm>
            <a:off x="10039350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visible schedule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2ACDD1C-81BF-4D2E-9626-23BC79DD198F}"/>
              </a:ext>
            </a:extLst>
          </p:cNvPr>
          <p:cNvSpPr>
            <a:spLocks noGrp="1"/>
          </p:cNvSpPr>
          <p:nvPr/>
        </p:nvSpPr>
        <p:spPr>
          <a:xfrm>
            <a:off x="9829800" y="3343275"/>
            <a:ext cx="76200" cy="762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69ABB3B-9F22-40CC-95EE-43333B927203}"/>
              </a:ext>
            </a:extLst>
          </p:cNvPr>
          <p:cNvSpPr>
            <a:spLocks noGrp="1"/>
          </p:cNvSpPr>
          <p:nvPr/>
        </p:nvSpPr>
        <p:spPr>
          <a:xfrm>
            <a:off x="10039350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readable text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2FA3600-6572-4341-8780-9E525956BD02}"/>
              </a:ext>
            </a:extLst>
          </p:cNvPr>
          <p:cNvSpPr>
            <a:spLocks noGrp="1"/>
          </p:cNvSpPr>
          <p:nvPr/>
        </p:nvSpPr>
        <p:spPr>
          <a:xfrm>
            <a:off x="9829800" y="3667125"/>
            <a:ext cx="76200" cy="762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9D8999-BCBD-41FC-91BA-83FE15C23124}"/>
              </a:ext>
            </a:extLst>
          </p:cNvPr>
          <p:cNvSpPr>
            <a:spLocks noGrp="1"/>
          </p:cNvSpPr>
          <p:nvPr/>
        </p:nvSpPr>
        <p:spPr>
          <a:xfrm>
            <a:off x="10039350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save selected</a:t>
            </a:r>
          </a:p>
        </p:txBody>
      </p:sp>
    </p:spTree>
    <p:extLst>
      <p:ext uri="{BB962C8B-B14F-4D97-AF65-F5344CB8AC3E}">
        <p14:creationId xmlns:p14="http://schemas.microsoft.com/office/powerpoint/2010/main" val="1342326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FD897ED-73F5-423F-8320-FB611E3AFE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92E592-CF54-451F-863D-506C49CF2E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D66AFF-1645-4D1E-A44C-D6DE1874391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334A5-02D1-4BE6-A169-8F4ECF0E0CEB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5BBAC8-2FB7-4720-8470-53D3B922AB1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94C74-0360-48E9-AEDC-4323EEFEC83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59A70-CEDA-49AF-AB72-C96B500832EA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FE83D7-61E6-4B33-B0FC-44CE77EF6D6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FD066-D5AF-4B3D-928F-95C9F334DDE2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320473-D3C0-4201-8021-96EE1DAC4D6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78955-01AF-4BCB-85B6-037C0DD41DB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FA10D-3FA5-4EEB-9A15-76D40CEFEA64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BCD5E3-A157-4A80-882C-E84F31C4BE19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F5805E-5DE8-4D0A-946F-34F9C7BD972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4A38FB-A71F-4D83-AA5B-A5811BB4F7A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DB1FE-A0DF-4D57-9A76-7F33BF94B04B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FB764-ED57-419C-BC3B-E3CAB414204B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3D4D96-ED75-4B49-ADDC-FB9CE7FB1A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471E12-6C43-40D8-BCEF-C1B6A47280DB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E4985-C6DB-4A93-B9CB-BF8B309AFFD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33520D-1BEC-41B7-88CA-B397988CF890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F641D-5FDC-4BE7-9C87-629578568ED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24CCB5-C9FA-45C4-B324-81245608CBF2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AC72D0-85B1-494D-B96F-03F4C079D9CC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D9C477-CED5-4C88-91D8-5D5E900738A5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599C79-F69A-453D-A6C0-AE9A022E6FE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B5FA48-4507-4B41-8FBB-C27A6B26826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pros and cons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9F8E9C-BEEE-4CA2-ABC7-FCA5F2325BB9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03BF5E-2190-4AD1-98E8-F169BFB5469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6C2C76-7632-45C4-A59C-B6336E2CE4E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A61FE6-BB45-45EA-B2E8-C05369D17D3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design protects the solver and accepts adapter complexity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4A2127-A5E6-48EE-AA8B-C392C9C4B575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Main advantages and disadvantages.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A9699F-E50D-47F3-B50C-4A0AF5F343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438150"/>
          </a:xfrm>
          <a:prstGeom prst="rect">
            <a:avLst/>
          </a:prstGeom>
          <a:solidFill>
            <a:srgbClr val="27364B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751124-763A-4144-BE24-50DB0F0B657E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24669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68DCB5-AAB4-4F3F-91EF-15038EC829BE}"/>
              </a:ext>
            </a:extLst>
          </p:cNvPr>
          <p:cNvSpPr>
            <a:spLocks noGrp="1"/>
          </p:cNvSpPr>
          <p:nvPr/>
        </p:nvSpPr>
        <p:spPr>
          <a:xfrm>
            <a:off x="3514725" y="2209800"/>
            <a:ext cx="24669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Advantage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AEED97-8E25-4AF6-959A-75FECB4485C0}"/>
              </a:ext>
            </a:extLst>
          </p:cNvPr>
          <p:cNvSpPr>
            <a:spLocks noGrp="1"/>
          </p:cNvSpPr>
          <p:nvPr/>
        </p:nvSpPr>
        <p:spPr>
          <a:xfrm>
            <a:off x="6210300" y="2209800"/>
            <a:ext cx="24669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Disadvantage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E602CF-FE3A-4989-9E79-7B63AB722812}"/>
              </a:ext>
            </a:extLst>
          </p:cNvPr>
          <p:cNvSpPr>
            <a:spLocks noGrp="1"/>
          </p:cNvSpPr>
          <p:nvPr/>
        </p:nvSpPr>
        <p:spPr>
          <a:xfrm>
            <a:off x="8905875" y="2209800"/>
            <a:ext cx="24669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BC5894-1887-4C1F-A9A1-91910C2B9A4E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C3AACC-6432-4ACC-BBE6-718F268E37BE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Reuse V1 CLI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50724B-1185-477A-861A-166AD24A7D83}"/>
              </a:ext>
            </a:extLst>
          </p:cNvPr>
          <p:cNvSpPr>
            <a:spLocks noGrp="1"/>
          </p:cNvSpPr>
          <p:nvPr/>
        </p:nvSpPr>
        <p:spPr>
          <a:xfrm>
            <a:off x="3533775" y="26289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preserves tested behavior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B8C253-075C-440F-ABB5-B92F1971B970}"/>
              </a:ext>
            </a:extLst>
          </p:cNvPr>
          <p:cNvSpPr>
            <a:spLocks noGrp="1"/>
          </p:cNvSpPr>
          <p:nvPr/>
        </p:nvSpPr>
        <p:spPr>
          <a:xfrm>
            <a:off x="6229350" y="26289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GUI receives text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9CDE4D-59A8-422B-98CE-8999857E3CDA}"/>
              </a:ext>
            </a:extLst>
          </p:cNvPr>
          <p:cNvSpPr>
            <a:spLocks noGrp="1"/>
          </p:cNvSpPr>
          <p:nvPr/>
        </p:nvSpPr>
        <p:spPr>
          <a:xfrm>
            <a:off x="8924925" y="26289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formatter boundary and parser tests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417F98-1383-4A96-B878-B76C43BF818C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10782300" cy="72390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572347-2BC3-47D7-A10E-2EA5753AF88E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QProcess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C9EB4B-6477-42C1-9FAD-3A255B46BEC3}"/>
              </a:ext>
            </a:extLst>
          </p:cNvPr>
          <p:cNvSpPr>
            <a:spLocks noGrp="1"/>
          </p:cNvSpPr>
          <p:nvPr/>
        </p:nvSpPr>
        <p:spPr>
          <a:xfrm>
            <a:off x="3533775" y="33528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keeps long runs off UI thread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1DB523-FD37-4D27-9908-95465FC376B9}"/>
              </a:ext>
            </a:extLst>
          </p:cNvPr>
          <p:cNvSpPr>
            <a:spLocks noGrp="1"/>
          </p:cNvSpPr>
          <p:nvPr/>
        </p:nvSpPr>
        <p:spPr>
          <a:xfrm>
            <a:off x="6229350" y="33528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pipe lifecycle errors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9F21FF-21EC-4477-8A54-161DA71B4746}"/>
              </a:ext>
            </a:extLst>
          </p:cNvPr>
          <p:cNvSpPr>
            <a:spLocks noGrp="1"/>
          </p:cNvSpPr>
          <p:nvPr/>
        </p:nvSpPr>
        <p:spPr>
          <a:xfrm>
            <a:off x="8924925" y="33528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ProcessRunner signals and readable errors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19728E-CE43-49D7-B4A0-75DEE0A8404D}"/>
              </a:ext>
            </a:extLst>
          </p:cNvPr>
          <p:cNvSpPr>
            <a:spLocks noGrp="1"/>
          </p:cNvSpPr>
          <p:nvPr/>
        </p:nvSpPr>
        <p:spPr>
          <a:xfrm>
            <a:off x="704850" y="39814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649A53-F974-449E-980F-D30F04CBE605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Lazy protocol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0553DB-6550-496A-8887-A88735838C8D}"/>
              </a:ext>
            </a:extLst>
          </p:cNvPr>
          <p:cNvSpPr>
            <a:spLocks noGrp="1"/>
          </p:cNvSpPr>
          <p:nvPr/>
        </p:nvSpPr>
        <p:spPr>
          <a:xfrm>
            <a:off x="3533775" y="40767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avoids huge materialization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8C68561-A82B-4358-8387-27F60B3AAA84}"/>
              </a:ext>
            </a:extLst>
          </p:cNvPr>
          <p:cNvSpPr>
            <a:spLocks noGrp="1"/>
          </p:cNvSpPr>
          <p:nvPr/>
        </p:nvSpPr>
        <p:spPr>
          <a:xfrm>
            <a:off x="6229350" y="40767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stateful parser flow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647B07-3B00-451B-B2F6-E768C3D52B90}"/>
              </a:ext>
            </a:extLst>
          </p:cNvPr>
          <p:cNvSpPr>
            <a:spLocks noGrp="1"/>
          </p:cNvSpPr>
          <p:nvPr/>
        </p:nvSpPr>
        <p:spPr>
          <a:xfrm>
            <a:off x="8924925" y="40767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batch marker and stream tests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727788-29E6-4EFF-B52B-362FBE9DEC7B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10782300" cy="72390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361DC3-515E-4C44-872E-F7BDF47DD29E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Internal cache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AD6C6C5-01E9-49F8-B272-776ED5904B06}"/>
              </a:ext>
            </a:extLst>
          </p:cNvPr>
          <p:cNvSpPr>
            <a:spLocks noGrp="1"/>
          </p:cNvSpPr>
          <p:nvPr/>
        </p:nvSpPr>
        <p:spPr>
          <a:xfrm>
            <a:off x="3533775" y="48006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faster unchanged reloads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39FF24-CAE0-44F7-B33A-AB075749A49A}"/>
              </a:ext>
            </a:extLst>
          </p:cNvPr>
          <p:cNvSpPr>
            <a:spLocks noGrp="1"/>
          </p:cNvSpPr>
          <p:nvPr/>
        </p:nvSpPr>
        <p:spPr>
          <a:xfrm>
            <a:off x="6229350" y="48006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stale/corrupt risk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3EF9E0-D3FC-4A81-A772-FC3274ADE9E2}"/>
              </a:ext>
            </a:extLst>
          </p:cNvPr>
          <p:cNvSpPr>
            <a:spLocks noGrp="1"/>
          </p:cNvSpPr>
          <p:nvPr/>
        </p:nvSpPr>
        <p:spPr>
          <a:xfrm>
            <a:off x="8924925" y="48006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SHA256 fingerprints and bypass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CAD35C-13E2-4483-9217-D1CB395CCC66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7F8384-CD65-46F6-A43E-CA2B8248D2AE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Strict imports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7F66AF-E11C-479E-BA96-CD2221FB9854}"/>
              </a:ext>
            </a:extLst>
          </p:cNvPr>
          <p:cNvSpPr>
            <a:spLocks noGrp="1"/>
          </p:cNvSpPr>
          <p:nvPr/>
        </p:nvSpPr>
        <p:spPr>
          <a:xfrm>
            <a:off x="3533775" y="55245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offline architecture stays honest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9C42BD1-3884-4BB0-8EAC-B1D5EB1E8831}"/>
              </a:ext>
            </a:extLst>
          </p:cNvPr>
          <p:cNvSpPr>
            <a:spLocks noGrp="1"/>
          </p:cNvSpPr>
          <p:nvPr/>
        </p:nvSpPr>
        <p:spPr>
          <a:xfrm>
            <a:off x="6229350" y="55245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more adapter code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02D6455-70C5-48EB-84BD-7F1884D19648}"/>
              </a:ext>
            </a:extLst>
          </p:cNvPr>
          <p:cNvSpPr>
            <a:spLocks noGrp="1"/>
          </p:cNvSpPr>
          <p:nvPr/>
        </p:nvSpPr>
        <p:spPr>
          <a:xfrm>
            <a:off x="8924925" y="5524500"/>
            <a:ext cx="24288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architecture tests scan boundaries</a:t>
            </a:r>
          </a:p>
        </p:txBody>
      </p:sp>
    </p:spTree>
    <p:extLst>
      <p:ext uri="{BB962C8B-B14F-4D97-AF65-F5344CB8AC3E}">
        <p14:creationId xmlns:p14="http://schemas.microsoft.com/office/powerpoint/2010/main" val="1837420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9D4710CE-7138-4064-805C-0FB3C00BC7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A5CEC9-7C7A-404E-9073-92EBC50A1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57FC-5ECD-4B79-8303-D3A555BE56E2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157D73-B869-4DDB-A0D8-C5FE6F85A47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E7C9C-6C19-41A8-A1E8-FC05473D9E22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67D06-B7CC-4096-9C41-84D210E64C9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6C5CB-D79E-4F23-9B25-BE8FDD5F0596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B067CF-A6D3-45EA-8A34-E277B34FD010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4C3CA-62FC-44F1-BE35-03D72966EC36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8D7E90-7BC4-4B08-A4A7-3219B40337B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8A31D-32A2-4033-82DE-F8442B130EF3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D97990-5ED8-4D11-BB99-243DDFD338B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A56CB9-070D-43AA-B8DD-8D11822B2CA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67D768-AF57-46D2-9047-B0F9EAEEDD96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6E45BA-DFB9-41A6-A87A-A7A7B79D4E1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9E9765-F21A-4EFA-8C71-181967CCC91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5FCF4E-41BA-4083-B43A-9027B385D638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7F100-6122-4782-A14B-472CA463E4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1798E3-BE79-42F1-A3CC-2B41B2E88177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913861-5C04-4AF5-830F-0BC44FA483B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B3DD7D-4BEE-40BB-8FD9-CEF59E0F697A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39D8-4EA7-4717-83B0-01975A28E54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2D8D2-7B86-45C4-ACC6-3264B08802C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137119-6630-42AF-9FD8-55EE874BA5E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DB8EF5-2713-4C6C-B948-C2EAD07BDD19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F01F7C-64C9-4E0E-819C-7ADBC74E2E3F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2D089D-8796-4F21-B232-2FE121EBD30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review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B41C77-91F8-437C-8E13-443203A998E6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42E43E-78AC-4386-8EBE-7EFBB150D266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86173B-BCB7-4828-8747-BB18B76C276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6D921-536C-4472-A651-31E40D8D70E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Architecture rules are executable, not just documented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03BCF2-9684-48A9-8A38-7FB23BC5FA12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Review risks became tests that fail loudly if the design drifts.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A842A-3D5E-4D50-9C21-DBDF605770CF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3276600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C36B01-16D5-4AC9-90D4-9CBB84AABBA3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504299-D49E-4702-8C96-6F962E5C92F4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No hidden server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610559-B25D-4205-B9CD-8FBA1674BDB7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964989-89D0-451A-A205-7DD96DE70E1A}"/>
              </a:ext>
            </a:extLst>
          </p:cNvPr>
          <p:cNvSpPr>
            <a:spLocks noGrp="1"/>
          </p:cNvSpPr>
          <p:nvPr/>
        </p:nvSpPr>
        <p:spPr>
          <a:xfrm>
            <a:off x="1352550" y="29337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forbidden HTTP imports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B8BD44-BF74-4FFE-8055-34C1F5953D0D}"/>
              </a:ext>
            </a:extLst>
          </p:cNvPr>
          <p:cNvSpPr>
            <a:spLocks noGrp="1"/>
          </p:cNvSpPr>
          <p:nvPr/>
        </p:nvSpPr>
        <p:spPr>
          <a:xfrm>
            <a:off x="114300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668120-F333-4076-AED3-A292069E4AC2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pytest-socket blocks sockets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D2DD1D-ADFF-41E0-973B-712BE816E8C7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51A3BB-0975-4438-8159-564530677E3F}"/>
              </a:ext>
            </a:extLst>
          </p:cNvPr>
          <p:cNvSpPr>
            <a:spLocks noGrp="1"/>
          </p:cNvSpPr>
          <p:nvPr/>
        </p:nvSpPr>
        <p:spPr>
          <a:xfrm>
            <a:off x="1352550" y="35814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network paths rejected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04F02A-C15E-4E5A-8FBC-7B95571F6DFF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3276600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B07503-E89E-493A-ABC3-B9D43F6F6CD7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B36412-F34A-4DDE-8E71-5BB3EAD0DE04}"/>
              </a:ext>
            </a:extLst>
          </p:cNvPr>
          <p:cNvSpPr>
            <a:spLocks noGrp="1"/>
          </p:cNvSpPr>
          <p:nvPr/>
        </p:nvSpPr>
        <p:spPr>
          <a:xfrm>
            <a:off x="4667250" y="24384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No reverse dependency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4B9006-E304-4801-836D-8132D1973A17}"/>
              </a:ext>
            </a:extLst>
          </p:cNvPr>
          <p:cNvSpPr>
            <a:spLocks noGrp="1"/>
          </p:cNvSpPr>
          <p:nvPr/>
        </p:nvSpPr>
        <p:spPr>
          <a:xfrm>
            <a:off x="4686300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5B0C9F-26D1-4444-9434-60B49B6314D5}"/>
              </a:ext>
            </a:extLst>
          </p:cNvPr>
          <p:cNvSpPr>
            <a:spLocks noGrp="1"/>
          </p:cNvSpPr>
          <p:nvPr/>
        </p:nvSpPr>
        <p:spPr>
          <a:xfrm>
            <a:off x="4895850" y="29337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V1 code must not import UI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A72746-41C1-4628-9B17-97A1C4E5A1B5}"/>
              </a:ext>
            </a:extLst>
          </p:cNvPr>
          <p:cNvSpPr>
            <a:spLocks noGrp="1"/>
          </p:cNvSpPr>
          <p:nvPr/>
        </p:nvSpPr>
        <p:spPr>
          <a:xfrm>
            <a:off x="4686300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B95E379-6085-423A-BE49-43CD764231BC}"/>
              </a:ext>
            </a:extLst>
          </p:cNvPr>
          <p:cNvSpPr>
            <a:spLocks noGrp="1"/>
          </p:cNvSpPr>
          <p:nvPr/>
        </p:nvSpPr>
        <p:spPr>
          <a:xfrm>
            <a:off x="4895850" y="32575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 does not import solver directly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3F0022-62B5-4E67-B42C-F3958C32B66C}"/>
              </a:ext>
            </a:extLst>
          </p:cNvPr>
          <p:cNvSpPr>
            <a:spLocks noGrp="1"/>
          </p:cNvSpPr>
          <p:nvPr/>
        </p:nvSpPr>
        <p:spPr>
          <a:xfrm>
            <a:off x="4686300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998CBA-FCE8-449B-B77B-CB12ED4E3995}"/>
              </a:ext>
            </a:extLst>
          </p:cNvPr>
          <p:cNvSpPr>
            <a:spLocks noGrp="1"/>
          </p:cNvSpPr>
          <p:nvPr/>
        </p:nvSpPr>
        <p:spPr>
          <a:xfrm>
            <a:off x="4895850" y="35814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services are adapter boundary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B25B40-F49C-4587-88F6-DB0A57FDF37D}"/>
              </a:ext>
            </a:extLst>
          </p:cNvPr>
          <p:cNvSpPr>
            <a:spLocks noGrp="1"/>
          </p:cNvSpPr>
          <p:nvPr/>
        </p:nvSpPr>
        <p:spPr>
          <a:xfrm>
            <a:off x="8001000" y="2266950"/>
            <a:ext cx="3276600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60AA3A9-B188-47E0-A2A7-BF4BFE419178}"/>
              </a:ext>
            </a:extLst>
          </p:cNvPr>
          <p:cNvSpPr>
            <a:spLocks noGrp="1"/>
          </p:cNvSpPr>
          <p:nvPr/>
        </p:nvSpPr>
        <p:spPr>
          <a:xfrm>
            <a:off x="8001000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97EDF4-B421-4F53-94C4-0B72AD07C1D8}"/>
              </a:ext>
            </a:extLst>
          </p:cNvPr>
          <p:cNvSpPr>
            <a:spLocks noGrp="1"/>
          </p:cNvSpPr>
          <p:nvPr/>
        </p:nvSpPr>
        <p:spPr>
          <a:xfrm>
            <a:off x="8210550" y="24384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No output leakage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B973215-C345-4035-97CF-55540E426609}"/>
              </a:ext>
            </a:extLst>
          </p:cNvPr>
          <p:cNvSpPr>
            <a:spLocks noGrp="1"/>
          </p:cNvSpPr>
          <p:nvPr/>
        </p:nvSpPr>
        <p:spPr>
          <a:xfrm>
            <a:off x="8229600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4B4EE7C-F26F-4CED-BFC9-B518E378D7EE}"/>
              </a:ext>
            </a:extLst>
          </p:cNvPr>
          <p:cNvSpPr>
            <a:spLocks noGrp="1"/>
          </p:cNvSpPr>
          <p:nvPr/>
        </p:nvSpPr>
        <p:spPr>
          <a:xfrm>
            <a:off x="8439150" y="29337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scheduler delegates formatting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2FAD00-B3DD-442E-890B-79CC48DFC062}"/>
              </a:ext>
            </a:extLst>
          </p:cNvPr>
          <p:cNvSpPr>
            <a:spLocks noGrp="1"/>
          </p:cNvSpPr>
          <p:nvPr/>
        </p:nvSpPr>
        <p:spPr>
          <a:xfrm>
            <a:off x="8229600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77FA8E-B330-4513-AE12-15CBD9E7AFA6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formatter owns text protocol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EA6545-28EE-4C97-BDF0-A2E6D4EB2F08}"/>
              </a:ext>
            </a:extLst>
          </p:cNvPr>
          <p:cNvSpPr>
            <a:spLocks noGrp="1"/>
          </p:cNvSpPr>
          <p:nvPr/>
        </p:nvSpPr>
        <p:spPr>
          <a:xfrm>
            <a:off x="8229600" y="36671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72AE9B7-D96B-4E92-BBE7-4968ADAEE114}"/>
              </a:ext>
            </a:extLst>
          </p:cNvPr>
          <p:cNvSpPr>
            <a:spLocks noGrp="1"/>
          </p:cNvSpPr>
          <p:nvPr/>
        </p:nvSpPr>
        <p:spPr>
          <a:xfrm>
            <a:off x="8439150" y="35814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stdout parser tested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3F46A-DBEF-4B78-B2EB-5BC4E166B2F9}"/>
              </a:ext>
            </a:extLst>
          </p:cNvPr>
          <p:cNvSpPr>
            <a:spLocks noGrp="1"/>
          </p:cNvSpPr>
          <p:nvPr/>
        </p:nvSpPr>
        <p:spPr>
          <a:xfrm>
            <a:off x="1676400" y="5429250"/>
            <a:ext cx="8839200" cy="41910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9BB2FD8-183A-4D5E-953C-235B84FA5E16}"/>
              </a:ext>
            </a:extLst>
          </p:cNvPr>
          <p:cNvSpPr>
            <a:spLocks noGrp="1"/>
          </p:cNvSpPr>
          <p:nvPr/>
        </p:nvSpPr>
        <p:spPr>
          <a:xfrm>
            <a:off x="1962150" y="5543550"/>
            <a:ext cx="8267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These tests are the code-review memory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1384646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7A4DD47B-043A-4610-A4C5-682D8E6505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B940E-EFF0-479D-8B78-68FED094A0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6E2AAD-9005-4979-92E9-436F062B5569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CEF476-2E77-4450-840E-AE232F58896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AB6CCC-486F-491C-B0BB-6736BC29BDA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423E2B-E086-42B9-89D5-AE5A0B9A78C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5EC0A-D8EF-4376-B4D5-262E4803810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A4AC83-A781-4C55-9DD0-A76C5750135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3ABA45-AE53-4403-95D6-9A3EF80CB1DB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A789FE-3E0D-48DD-A7DE-CA120270547F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417F3-BE10-4327-BC01-DF07CB46150E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E60233-7924-49CF-9CB5-A72DD0536405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ACDEA-C999-4C1D-8948-985D02980A5C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632AD-1DAA-457C-A508-53F1B114084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7819CD-58F3-45E5-A951-AE27F80F059F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C30CB-C1D3-4E42-8DA2-94022E933218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92E53C-E65F-4226-ABB6-0530F90C5E44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6BFF74-8268-40DF-9194-0A0FC87546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894FB-40FB-43F6-A83F-1698B37E725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312D35-D29D-4A2B-B0B7-AEEB70BC9D1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619262-C197-44D2-AF34-09A02CB460D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DCDA2E-918A-464E-A3A1-66659D3086C2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84F7C3-794C-408A-8D0F-9D3D2B98B06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BB499E-C459-46A4-A567-38949E530FFD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FD9AEE-3817-4715-B130-0F1ED1A6D2D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DC2265-2981-4F76-89A3-F6B5A480B93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6B3C58-B198-4BEB-94E9-3C7753C1BA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Alex / close section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E309F2-159F-4478-979E-BD53D4EB43FA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4CD30B-12F7-44F7-AB8D-5B080A25EAE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793C50-A183-4F8D-BED6-62328A6F529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03CC4-229E-4B66-B403-8422CB4F0AD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architecture leaves clear extension points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E6A6F4-6355-4EB3-A8E8-ABE39244B7B8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Small boundaries make future V3 changes possible.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40EFB1-A708-42CA-869D-EF618E97ABE4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438150"/>
          </a:xfrm>
          <a:prstGeom prst="rect">
            <a:avLst/>
          </a:prstGeom>
          <a:solidFill>
            <a:srgbClr val="27364B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B40DF0-14B9-41C2-900B-E929DF011636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Extension point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47D148-FCF8-4A44-9B18-354C70F7D36E}"/>
              </a:ext>
            </a:extLst>
          </p:cNvPr>
          <p:cNvSpPr>
            <a:spLocks noGrp="1"/>
          </p:cNvSpPr>
          <p:nvPr/>
        </p:nvSpPr>
        <p:spPr>
          <a:xfrm>
            <a:off x="44132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Why possible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A35073-2AAF-4EC7-80E6-44178049C7DE}"/>
              </a:ext>
            </a:extLst>
          </p:cNvPr>
          <p:cNvSpPr>
            <a:spLocks noGrp="1"/>
          </p:cNvSpPr>
          <p:nvPr/>
        </p:nvSpPr>
        <p:spPr>
          <a:xfrm>
            <a:off x="80073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What we would improve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8006ED-954D-4FB1-8EC5-C421889ED571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10782300" cy="78105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D16BCE-7AD2-4FC8-896F-3F553CF8FF01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Structured backend events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33020C-9FCA-4132-AB4A-9DDDD734F887}"/>
              </a:ext>
            </a:extLst>
          </p:cNvPr>
          <p:cNvSpPr>
            <a:spLocks noGrp="1"/>
          </p:cNvSpPr>
          <p:nvPr/>
        </p:nvSpPr>
        <p:spPr>
          <a:xfrm>
            <a:off x="4432300" y="26289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formatter/protocol centralized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4FD975-96FF-4B57-9DB8-D3215F57348C}"/>
              </a:ext>
            </a:extLst>
          </p:cNvPr>
          <p:cNvSpPr>
            <a:spLocks noGrp="1"/>
          </p:cNvSpPr>
          <p:nvPr/>
        </p:nvSpPr>
        <p:spPr>
          <a:xfrm>
            <a:off x="8026400" y="26289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replace text parsing with JSON events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34C36F-B236-4042-9CEA-010CBD5EA6B1}"/>
              </a:ext>
            </a:extLst>
          </p:cNvPr>
          <p:cNvSpPr>
            <a:spLocks noGrp="1"/>
          </p:cNvSpPr>
          <p:nvPr/>
        </p:nvSpPr>
        <p:spPr>
          <a:xfrm>
            <a:off x="704850" y="3314700"/>
            <a:ext cx="10782300" cy="78105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0AAAF1-414C-4890-BCF9-39816BADCEA1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Heavier file loading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20415A-7B1F-43B1-BD69-A948F82591F3}"/>
              </a:ext>
            </a:extLst>
          </p:cNvPr>
          <p:cNvSpPr>
            <a:spLocks noGrp="1"/>
          </p:cNvSpPr>
          <p:nvPr/>
        </p:nvSpPr>
        <p:spPr>
          <a:xfrm>
            <a:off x="4432300" y="34099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ProcessRunner boundary reusable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03410C-FAF0-4CCF-B76C-5B424173FE75}"/>
              </a:ext>
            </a:extLst>
          </p:cNvPr>
          <p:cNvSpPr>
            <a:spLocks noGrp="1"/>
          </p:cNvSpPr>
          <p:nvPr/>
        </p:nvSpPr>
        <p:spPr>
          <a:xfrm>
            <a:off x="8026400" y="34099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move large parsing out of UI 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1EFB2B-86DF-460F-9558-D7B7E627CFC5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10782300" cy="78105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D7D427-8658-40A1-A50C-9A90B0720B8F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More output views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46FFF0-18F2-48D4-BA83-8946A3FF616B}"/>
              </a:ext>
            </a:extLst>
          </p:cNvPr>
          <p:cNvSpPr>
            <a:spLocks noGrp="1"/>
          </p:cNvSpPr>
          <p:nvPr/>
        </p:nvSpPr>
        <p:spPr>
          <a:xfrm>
            <a:off x="4432300" y="41910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adapter already produces view models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057F7D-E9C3-47F0-AB1E-E51B407B6FA6}"/>
              </a:ext>
            </a:extLst>
          </p:cNvPr>
          <p:cNvSpPr>
            <a:spLocks noGrp="1"/>
          </p:cNvSpPr>
          <p:nvPr/>
        </p:nvSpPr>
        <p:spPr>
          <a:xfrm>
            <a:off x="8026400" y="41910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add filters/comparison without solver changes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34CB7D-363E-4C97-BB04-3B9EBB840038}"/>
              </a:ext>
            </a:extLst>
          </p:cNvPr>
          <p:cNvSpPr>
            <a:spLocks noGrp="1"/>
          </p:cNvSpPr>
          <p:nvPr/>
        </p:nvSpPr>
        <p:spPr>
          <a:xfrm>
            <a:off x="704850" y="4876800"/>
            <a:ext cx="10782300" cy="78105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1BF3A0-71C0-4A44-A95C-7976062D7F47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More validation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ACD5A1-35C8-4841-ADB4-0D503F3EA36C}"/>
              </a:ext>
            </a:extLst>
          </p:cNvPr>
          <p:cNvSpPr>
            <a:spLocks noGrp="1"/>
          </p:cNvSpPr>
          <p:nvPr/>
        </p:nvSpPr>
        <p:spPr>
          <a:xfrm>
            <a:off x="4432300" y="49720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services isolate input state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F3D2588-EA18-4F4D-AF38-F7D6C1FEBB98}"/>
              </a:ext>
            </a:extLst>
          </p:cNvPr>
          <p:cNvSpPr>
            <a:spLocks noGrp="1"/>
          </p:cNvSpPr>
          <p:nvPr/>
        </p:nvSpPr>
        <p:spPr>
          <a:xfrm>
            <a:off x="8026400" y="49720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validate UI edits before writing runtime files</a:t>
            </a:r>
          </a:p>
        </p:txBody>
      </p:sp>
    </p:spTree>
    <p:extLst>
      <p:ext uri="{BB962C8B-B14F-4D97-AF65-F5344CB8AC3E}">
        <p14:creationId xmlns:p14="http://schemas.microsoft.com/office/powerpoint/2010/main" val="738851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D51FA92-0342-4279-80F5-E745AB73CC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2260-6596-4C16-9493-CD32EEB85F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FD4605-0EBC-4E18-B153-0FDAB5ED7FF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08F6E4-C399-4675-9B75-68EC9A91971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F4220-27F9-4697-87A9-8B81DBDA97B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B1AC7-FDDC-4327-8EBB-B73C532C2EB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54B35B-0F4B-4814-B6A2-6391749514C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67099A-FC0F-447D-8253-A1D3EADB56FD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98ED7-28EC-44B3-A8EE-19CD964E7B4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FB0A-1FC6-471A-90CD-E9E0DB63135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A332F-EF8C-4CC0-BF67-8F54CE77C384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94CF0-FEF6-4579-AAE8-4A33369377B0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53F86B-73A3-44CB-9428-9AB0BF11CDCE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25FDE-6529-4396-9849-3D705AE4EF5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749595-33C3-435B-8CE0-732123CB2A8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E7200-766F-449A-BF25-8BBEAB8DCB8D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807A20-E881-47D4-A163-5E897965258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19E368-031A-4027-9D1C-FD4CE6C09B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B7DFEB-B1AF-4232-9FEE-F079BF7E976D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157C7-FA84-405D-B63B-2DD067D3794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ACABA6-C8A5-418E-80DF-79756F15FAFC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910E2-7B24-42BB-B427-F93F222FAA6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D52D43-20A5-4519-9EC8-46E46CF59E62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EEAF57-2D5B-4D19-9032-98B2758AFA0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90AE0E-50D9-4E41-B224-9B262FD1535A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67E95A-DBCD-4550-94C9-7FE68DE3C26F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802202-BD4A-4A88-91D2-3CDB3C2EEB3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Section 3 / testing, validation, and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9E5785-89D5-4636-B949-BD14E9FA33C8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ECF104-E1A3-4D37-92CB-C42AE8B839A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7AEFE8-AC17-4FB7-84BA-E42027A40A54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1AC00E-492D-499F-A7BE-D8F43030D849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428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Eli Sasson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44C307-A51F-4797-A0C6-C7DBED192C1D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expanded speaking block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697806-3880-4A05-99CC-DF3B2DB541C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7429500" cy="2476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F39AD9-7C8D-4E69-AD01-6C48F89604D6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57150" cy="24765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7E9487-91B1-4DB5-94BC-1FA859D588DF}"/>
              </a:ext>
            </a:extLst>
          </p:cNvPr>
          <p:cNvSpPr>
            <a:spLocks noGrp="1"/>
          </p:cNvSpPr>
          <p:nvPr/>
        </p:nvSpPr>
        <p:spPr>
          <a:xfrm>
            <a:off x="1123950" y="31146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B280F3-937C-4F66-B2D0-5A686EF85662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Report what passed and what warning remained in the current run.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C93D7C-CED8-4606-88F2-5A262FA125B2}"/>
              </a:ext>
            </a:extLst>
          </p:cNvPr>
          <p:cNvSpPr>
            <a:spLocks noGrp="1"/>
          </p:cNvSpPr>
          <p:nvPr/>
        </p:nvSpPr>
        <p:spPr>
          <a:xfrm>
            <a:off x="1123950" y="35718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A82596-CFD4-4BAA-8CF7-BD59207D936F}"/>
              </a:ext>
            </a:extLst>
          </p:cNvPr>
          <p:cNvSpPr>
            <a:spLocks noGrp="1"/>
          </p:cNvSpPr>
          <p:nvPr/>
        </p:nvSpPr>
        <p:spPr>
          <a:xfrm>
            <a:off x="1333500" y="34861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Show how tests cover UI, services, solver, output, rules, parser, and architecture.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E16621-5ED5-4067-BFE9-A5EE971F932F}"/>
              </a:ext>
            </a:extLst>
          </p:cNvPr>
          <p:cNvSpPr>
            <a:spLocks noGrp="1"/>
          </p:cNvSpPr>
          <p:nvPr/>
        </p:nvSpPr>
        <p:spPr>
          <a:xfrm>
            <a:off x="1123950" y="40290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52A2E9-47C9-41EB-8AEA-B1443ACE2886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Connect code-review findings to concrete guard tests and fixes.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6C6105-D9E4-478C-8F62-B6DBFE59C297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2000250" cy="3333750"/>
          </a:xfrm>
          <a:prstGeom prst="rect">
            <a:avLst/>
          </a:prstGeom>
          <a:solidFill>
            <a:srgbClr val="223044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75D53C-0D24-4680-8976-D5E385360FA4}"/>
              </a:ext>
            </a:extLst>
          </p:cNvPr>
          <p:cNvSpPr>
            <a:spLocks noGrp="1"/>
          </p:cNvSpPr>
          <p:nvPr/>
        </p:nvSpPr>
        <p:spPr>
          <a:xfrm>
            <a:off x="9163050" y="1981200"/>
            <a:ext cx="13906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69D484-F010-4288-9AB7-461DC837DCBD}"/>
              </a:ext>
            </a:extLst>
          </p:cNvPr>
          <p:cNvSpPr>
            <a:spLocks noGrp="1"/>
          </p:cNvSpPr>
          <p:nvPr/>
        </p:nvSpPr>
        <p:spPr>
          <a:xfrm>
            <a:off x="9315450" y="3105150"/>
            <a:ext cx="110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776459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9EBE2BF-7037-44C2-8A4A-A659623A52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465F5F-E0F0-4E8A-9E95-45EE022CDF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EE7F70-8072-4CC0-943A-F1E5B8256869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C4CE8-3962-475A-AAB1-0746D0D17C9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AD54B-65FE-41A1-A601-95D8A456BF32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84C4A-D6AA-4812-BFA2-42F276F53E15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0BE2D7-EE82-40C2-A04E-5301650198CB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FDBBC-E9A7-4F1D-8E49-E209D39405FE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2B258C-CD82-4D7F-9F4F-5EC830A588A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6164B-8BB8-443B-BDE7-35244D28CB6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2BB383-DBEB-4EE9-9227-372B0666136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B93FE-DD1A-41A2-BF2C-744BD90E37E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638315-B56F-43B1-9304-DF0D285E358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40905F-E427-4F61-8C05-9C1B4DC90DB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F8CF5-9692-43F3-BC1C-C26BAC65EDC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097AC8-7BD3-45A1-9146-00EDD6493C0E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AC7E06-5406-455D-B952-04D5D5DDF7FE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468D5C-6974-471E-8493-C7E2F25AFF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5BD1AE-7D0C-4CF5-9DAD-372723A80256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A0D219-4BA2-437C-B30F-9AF969383238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35E20B-3338-4F51-B0A8-C930407C8388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3180C-C215-43CD-8826-1CB5D56A48BD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E49741-E4C8-4CE6-873E-FEDFA118AD80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5E2BAB-4B21-4E7B-8074-CCCF31C31F6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89329F-BA00-4B78-A90C-8AA8307F466E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7DF3E2-B0F9-4D21-B509-7AF5B30A1ED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039F3C-4E3B-45CE-BB49-DC4DC362B1F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Eli / test design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AF925C-E06A-4983-8A93-8710C9137676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9F777E-AA31-47FC-BB46-28AEE1922ED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9FB5BD-8DD4-462D-8AC9-61418B30FDB1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A81FF8-33BE-48E1-A2B5-0FC72A55BD3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Tests target the ways a V2 desktop workflow can be wrong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B578A3-5114-4F6E-AF67-C79160DF7F15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previous test structure is updated for GUI, process, scale, and boundaries.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328315-AF1D-4BE7-AEFA-608BE51D67BE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1752600" cy="24193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490CCC-A3F9-4969-A955-DB09E5BD1AD9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57150" cy="24193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4D897C-6710-4E63-B982-0D99E7F74F17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wrong input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8CFA80-51C6-4D1D-88D5-92ABAD3AA60F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1371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file parsing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program IDs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edits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0A5473-0B07-4211-AFFC-D7D0E52E856F}"/>
              </a:ext>
            </a:extLst>
          </p:cNvPr>
          <p:cNvSpPr>
            <a:spLocks noGrp="1"/>
          </p:cNvSpPr>
          <p:nvPr/>
        </p:nvSpPr>
        <p:spPr>
          <a:xfrm>
            <a:off x="2914650" y="2343150"/>
            <a:ext cx="1752600" cy="24193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A3C4A3-5890-430E-9F1A-354240AFDAF5}"/>
              </a:ext>
            </a:extLst>
          </p:cNvPr>
          <p:cNvSpPr>
            <a:spLocks noGrp="1"/>
          </p:cNvSpPr>
          <p:nvPr/>
        </p:nvSpPr>
        <p:spPr>
          <a:xfrm>
            <a:off x="2914650" y="2343150"/>
            <a:ext cx="57150" cy="24193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70E8AB-9BA6-4519-B008-4D8658F484DA}"/>
              </a:ext>
            </a:extLst>
          </p:cNvPr>
          <p:cNvSpPr>
            <a:spLocks noGrp="1"/>
          </p:cNvSpPr>
          <p:nvPr/>
        </p:nvSpPr>
        <p:spPr>
          <a:xfrm>
            <a:off x="3124200" y="25146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wrong process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50D16F-2966-429C-8153-166317A80052}"/>
              </a:ext>
            </a:extLst>
          </p:cNvPr>
          <p:cNvSpPr>
            <a:spLocks noGrp="1"/>
          </p:cNvSpPr>
          <p:nvPr/>
        </p:nvSpPr>
        <p:spPr>
          <a:xfrm>
            <a:off x="3105150" y="3124200"/>
            <a:ext cx="1371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QProcess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CLI args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stream commands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AF64B7-9D6E-4F63-A04C-2A44CA5C4C90}"/>
              </a:ext>
            </a:extLst>
          </p:cNvPr>
          <p:cNvSpPr>
            <a:spLocks noGrp="1"/>
          </p:cNvSpPr>
          <p:nvPr/>
        </p:nvSpPr>
        <p:spPr>
          <a:xfrm>
            <a:off x="5105400" y="2343150"/>
            <a:ext cx="1752600" cy="24193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E4DA92-478E-4EA7-AAFD-CDFE6A12CFB0}"/>
              </a:ext>
            </a:extLst>
          </p:cNvPr>
          <p:cNvSpPr>
            <a:spLocks noGrp="1"/>
          </p:cNvSpPr>
          <p:nvPr/>
        </p:nvSpPr>
        <p:spPr>
          <a:xfrm>
            <a:off x="5105400" y="2343150"/>
            <a:ext cx="57150" cy="24193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AD6CC8-AE33-4128-800E-718B46692FE9}"/>
              </a:ext>
            </a:extLst>
          </p:cNvPr>
          <p:cNvSpPr>
            <a:spLocks noGrp="1"/>
          </p:cNvSpPr>
          <p:nvPr/>
        </p:nvSpPr>
        <p:spPr>
          <a:xfrm>
            <a:off x="5314950" y="25146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wrong display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034C2A-C4A2-4606-A950-4F967BE20037}"/>
              </a:ext>
            </a:extLst>
          </p:cNvPr>
          <p:cNvSpPr>
            <a:spLocks noGrp="1"/>
          </p:cNvSpPr>
          <p:nvPr/>
        </p:nvSpPr>
        <p:spPr>
          <a:xfrm>
            <a:off x="5295900" y="3124200"/>
            <a:ext cx="1371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stdout parsing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metadata enrichment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calendar cells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D80204-CB88-46BE-A1B8-5D580FC8D0E0}"/>
              </a:ext>
            </a:extLst>
          </p:cNvPr>
          <p:cNvSpPr>
            <a:spLocks noGrp="1"/>
          </p:cNvSpPr>
          <p:nvPr/>
        </p:nvSpPr>
        <p:spPr>
          <a:xfrm>
            <a:off x="7296150" y="2343150"/>
            <a:ext cx="1752600" cy="24193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0F29A8-7DEC-4DC5-8BBA-42C290B3456B}"/>
              </a:ext>
            </a:extLst>
          </p:cNvPr>
          <p:cNvSpPr>
            <a:spLocks noGrp="1"/>
          </p:cNvSpPr>
          <p:nvPr/>
        </p:nvSpPr>
        <p:spPr>
          <a:xfrm>
            <a:off x="7296150" y="2343150"/>
            <a:ext cx="57150" cy="24193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0B8DA3-EBCC-49F0-81E8-E0B17389D326}"/>
              </a:ext>
            </a:extLst>
          </p:cNvPr>
          <p:cNvSpPr>
            <a:spLocks noGrp="1"/>
          </p:cNvSpPr>
          <p:nvPr/>
        </p:nvSpPr>
        <p:spPr>
          <a:xfrm>
            <a:off x="7505700" y="25146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wrong scale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069390B-469A-429C-BF4B-9B63FB0CA724}"/>
              </a:ext>
            </a:extLst>
          </p:cNvPr>
          <p:cNvSpPr>
            <a:spLocks noGrp="1"/>
          </p:cNvSpPr>
          <p:nvPr/>
        </p:nvSpPr>
        <p:spPr>
          <a:xfrm>
            <a:off x="7486650" y="3124200"/>
            <a:ext cx="1371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lazy batches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cache pages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large totals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CB2D6C-4771-4CA9-AD7F-1354CB186021}"/>
              </a:ext>
            </a:extLst>
          </p:cNvPr>
          <p:cNvSpPr>
            <a:spLocks noGrp="1"/>
          </p:cNvSpPr>
          <p:nvPr/>
        </p:nvSpPr>
        <p:spPr>
          <a:xfrm>
            <a:off x="9486900" y="2343150"/>
            <a:ext cx="1752600" cy="24193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D6D131-B6DF-4C72-91FA-AEA91D2E92E7}"/>
              </a:ext>
            </a:extLst>
          </p:cNvPr>
          <p:cNvSpPr>
            <a:spLocks noGrp="1"/>
          </p:cNvSpPr>
          <p:nvPr/>
        </p:nvSpPr>
        <p:spPr>
          <a:xfrm>
            <a:off x="9486900" y="2343150"/>
            <a:ext cx="57150" cy="241935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67D3FE-4615-4D23-A8DE-F47794441C39}"/>
              </a:ext>
            </a:extLst>
          </p:cNvPr>
          <p:cNvSpPr>
            <a:spLocks noGrp="1"/>
          </p:cNvSpPr>
          <p:nvPr/>
        </p:nvSpPr>
        <p:spPr>
          <a:xfrm>
            <a:off x="9696450" y="25146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wrong boundary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D1C157-BE2B-46AF-8B7C-4BDE670C8C2F}"/>
              </a:ext>
            </a:extLst>
          </p:cNvPr>
          <p:cNvSpPr>
            <a:spLocks noGrp="1"/>
          </p:cNvSpPr>
          <p:nvPr/>
        </p:nvSpPr>
        <p:spPr>
          <a:xfrm>
            <a:off x="9677400" y="3124200"/>
            <a:ext cx="1371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UI/backend imports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network isolation</a:t>
            </a:r>
          </a:p>
          <a:p>
            <a:pPr algn="ctr">
              <a:defRPr sz="12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format ownership</a:t>
            </a:r>
          </a:p>
        </p:txBody>
      </p:sp>
    </p:spTree>
    <p:extLst>
      <p:ext uri="{BB962C8B-B14F-4D97-AF65-F5344CB8AC3E}">
        <p14:creationId xmlns:p14="http://schemas.microsoft.com/office/powerpoint/2010/main" val="137045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5BA7E954-8547-49B6-8DA4-C4B3DC06E8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EAAF9-BB46-4A44-9D1C-BF06D6850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C4802-569D-4CF1-BDA0-77E36CE23F1C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6A82D-6539-4740-AFBF-9DA95852033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FD977-BEA9-4F9B-9AC4-112142274040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29C06-6988-477E-8379-04338AD4E39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1D978-F1D2-4397-B044-66A98D5E2C4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86D889-C7C0-44C7-9E8F-1A4BC4C23E0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B78D7-484E-4B25-B995-89DB7AD2F4C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258CE-96E1-4AB5-BA0F-808F1B280E0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4FA73-76A2-4B02-914F-CEA0B7D0D71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09FA4-EEF6-47B0-8D48-171F7A089C76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806428-0BB4-4D39-A242-5536E36EEDF0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C10590-ADA1-424A-8D76-E726B53052B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2F0773-DC73-42F7-829B-0DD7C95EF9AF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45B92E-5129-47B4-8781-33880DA674C9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475D51-C938-4E6C-995E-50A52D2B2C97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C068BA-FFA2-4566-AD21-385B0B1962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79EA46-119B-4A2C-92F5-93F563FCF6C4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6DB6E0-BC2E-4D19-9E69-3B0358F97274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E34E98-96FB-42EB-9006-3DC9FC7ADB8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70E31D-5D02-4C8E-B438-D9CC6B51363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630BA8-17DA-44F5-9579-CB1C74F3A352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643D0E-796A-466E-BEB0-F1ECA40F8C38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C15539-2AC5-422E-8FCB-BAE35C21308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A4D75C-2F8D-438F-9DE7-4A631CDD267F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740F21-E47F-4B5D-B069-3B931561F5D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Eli /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1F70C2-C93E-42EC-9B32-6B063EF3000A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9B6232-02A6-4933-B83B-E11666198FA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99AC05-D498-4346-BB22-025546AB936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7124C8-EED7-4D20-99AF-151425365BC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current automated suite passed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715486-D930-455E-9559-4D43DD66E1C6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 only warning is intentional: network-isolation proves socket use was blocked.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B14F0C-338E-4035-A16B-07ED30F836AF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CB7747-3311-4251-BE24-8F56E3F12542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57150" cy="14668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988853-02A1-48F9-9207-BA328D2BE944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BE66F"/>
                </a:solidFill>
                <a:latin typeface="Aptos Display"/>
                <a:ea typeface="Aptos Display"/>
                <a:cs typeface="Aptos Display"/>
              </a:rPr>
              <a:t>237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8D1155-36EB-440F-BC01-EA49CFA1E5EE}"/>
              </a:ext>
            </a:extLst>
          </p:cNvPr>
          <p:cNvSpPr>
            <a:spLocks noGrp="1"/>
          </p:cNvSpPr>
          <p:nvPr/>
        </p:nvSpPr>
        <p:spPr>
          <a:xfrm>
            <a:off x="1047750" y="3009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917514-1EC5-4160-96C8-B92B9A94D8C6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current suite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F14FAF-E6D3-4137-8787-0A47C838DC87}"/>
              </a:ext>
            </a:extLst>
          </p:cNvPr>
          <p:cNvSpPr>
            <a:spLocks noGrp="1"/>
          </p:cNvSpPr>
          <p:nvPr/>
        </p:nvSpPr>
        <p:spPr>
          <a:xfrm>
            <a:off x="3619500" y="23431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E3E176-A1C7-47D7-A497-D91C55438CE5}"/>
              </a:ext>
            </a:extLst>
          </p:cNvPr>
          <p:cNvSpPr>
            <a:spLocks noGrp="1"/>
          </p:cNvSpPr>
          <p:nvPr/>
        </p:nvSpPr>
        <p:spPr>
          <a:xfrm>
            <a:off x="3619500" y="2343150"/>
            <a:ext cx="57150" cy="14668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136B92-86B8-4F69-98D4-1FD6EE76E5CD}"/>
              </a:ext>
            </a:extLst>
          </p:cNvPr>
          <p:cNvSpPr>
            <a:spLocks noGrp="1"/>
          </p:cNvSpPr>
          <p:nvPr/>
        </p:nvSpPr>
        <p:spPr>
          <a:xfrm>
            <a:off x="3810000" y="2533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BAD9CF-70BD-4E35-B418-D1D2290A8F16}"/>
              </a:ext>
            </a:extLst>
          </p:cNvPr>
          <p:cNvSpPr>
            <a:spLocks noGrp="1"/>
          </p:cNvSpPr>
          <p:nvPr/>
        </p:nvSpPr>
        <p:spPr>
          <a:xfrm>
            <a:off x="3810000" y="3009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failed tests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5DF118-463B-435C-9F9D-52AF3FB5A888}"/>
              </a:ext>
            </a:extLst>
          </p:cNvPr>
          <p:cNvSpPr>
            <a:spLocks noGrp="1"/>
          </p:cNvSpPr>
          <p:nvPr/>
        </p:nvSpPr>
        <p:spPr>
          <a:xfrm>
            <a:off x="3810000" y="32766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no failures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5429FE-A59E-473F-AF17-529B8F602CCD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A3A704-318F-4859-AB16-726983C3DF9F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57150" cy="14668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530E9A-BF45-42E6-BCBC-424ADE584EED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B95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B95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0217ED9-543A-48A6-95E5-714810E3A55C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socket warning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9521F4-661F-4CFD-8647-8776ADAE1FF3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expected block warning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53C50E-EB63-4CFF-88DF-04C89C9161F4}"/>
              </a:ext>
            </a:extLst>
          </p:cNvPr>
          <p:cNvSpPr>
            <a:spLocks noGrp="1"/>
          </p:cNvSpPr>
          <p:nvPr/>
        </p:nvSpPr>
        <p:spPr>
          <a:xfrm>
            <a:off x="9144000" y="2343150"/>
            <a:ext cx="2381250" cy="14668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4B738A-FEA7-43E1-98FA-9D8CD1A99446}"/>
              </a:ext>
            </a:extLst>
          </p:cNvPr>
          <p:cNvSpPr>
            <a:spLocks noGrp="1"/>
          </p:cNvSpPr>
          <p:nvPr/>
        </p:nvSpPr>
        <p:spPr>
          <a:xfrm>
            <a:off x="9144000" y="2343150"/>
            <a:ext cx="57150" cy="14668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BFCB15-2E4A-4154-AACA-F11B3568E8B7}"/>
              </a:ext>
            </a:extLst>
          </p:cNvPr>
          <p:cNvSpPr>
            <a:spLocks noGrp="1"/>
          </p:cNvSpPr>
          <p:nvPr/>
        </p:nvSpPr>
        <p:spPr>
          <a:xfrm>
            <a:off x="9334500" y="2533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F7DF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F7DF0"/>
                </a:solidFill>
                <a:latin typeface="Aptos Display"/>
                <a:ea typeface="Aptos Display"/>
                <a:cs typeface="Aptos Display"/>
              </a:rPr>
              <a:t>10.55s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D6278F-A25B-485C-82EC-6FBFB642C9F6}"/>
              </a:ext>
            </a:extLst>
          </p:cNvPr>
          <p:cNvSpPr>
            <a:spLocks noGrp="1"/>
          </p:cNvSpPr>
          <p:nvPr/>
        </p:nvSpPr>
        <p:spPr>
          <a:xfrm>
            <a:off x="9334500" y="3009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full run time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E2FB22-F1EB-4C84-ABD4-A04D48F1C4E3}"/>
              </a:ext>
            </a:extLst>
          </p:cNvPr>
          <p:cNvSpPr>
            <a:spLocks noGrp="1"/>
          </p:cNvSpPr>
          <p:nvPr/>
        </p:nvSpPr>
        <p:spPr>
          <a:xfrm>
            <a:off x="9334500" y="32766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current machine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2ED500-D876-4C6E-9DBC-1FC597FC99CA}"/>
              </a:ext>
            </a:extLst>
          </p:cNvPr>
          <p:cNvSpPr>
            <a:spLocks noGrp="1"/>
          </p:cNvSpPr>
          <p:nvPr/>
        </p:nvSpPr>
        <p:spPr>
          <a:xfrm>
            <a:off x="1485900" y="5067300"/>
            <a:ext cx="9220200" cy="514350"/>
          </a:xfrm>
          <a:prstGeom prst="rect">
            <a:avLst/>
          </a:prstGeom>
          <a:solidFill>
            <a:srgbClr val="223044"/>
          </a:solidFill>
          <a:ln w="9525">
            <a:solidFill>
              <a:srgbClr val="F7B955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DA6E820-26CA-47CF-919F-4120D224E8B2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Warning explanation: tests/architecture/test_network_isolation.py intentionally attempts socket access; pytest-socket intercepts it.</a:t>
            </a:r>
          </a:p>
        </p:txBody>
      </p:sp>
    </p:spTree>
    <p:extLst>
      <p:ext uri="{BB962C8B-B14F-4D97-AF65-F5344CB8AC3E}">
        <p14:creationId xmlns:p14="http://schemas.microsoft.com/office/powerpoint/2010/main" val="1057936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6B324207-015D-443A-B2F0-7C6BDF1F16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72A136-22BA-4875-8AB4-877C8391CA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4D36B-7A88-4B8F-9308-5AF03088D3B6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2D0C3-4DEE-4675-9C41-7CB1A7F58D9E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23547-39F6-4120-8E88-536EBDF34265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E33C42-33C3-4200-BB1B-502089C79F4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537C4E-280E-4527-8987-CF8B008A196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63285-6BCE-4A55-B38B-C85974E44A1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F464D-214C-4DF5-B640-99B6CA973052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1187D5-E5B2-43A9-96ED-007D6639C3EA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ED785-48DE-4E82-A94D-37F9A0C5C158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D9EEC2-C4F3-4514-B36D-3DAFB41FAF35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BCFB0D-BBF0-43C4-AED1-6A048F1F7AB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E8443-50C0-438C-8719-3270CF5416D1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720795-0046-45B0-8DE2-B3BEDB6766BD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931E2C-CB16-4555-A2AE-79DB2BF95C9A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FA5AB1-A07F-4C83-8DF4-521DD2197DA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77F7BC-6F1A-4F10-B2C3-DE0968F7FF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B73584-0B8F-4858-A063-DD430452032E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492435-1220-4501-A9C5-0F454665201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ABA0DF-E9B5-4C15-93D0-7A904E9745A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056446-5861-410D-9CF0-44A087982B26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5D5D1A-448A-44E7-8D12-768A0827F32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0F9515-347C-454E-A3E1-5379D5ECF766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F6C310-21DB-4F9F-9207-8AE3A833DC9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994616-F731-4D19-86A9-524778CE98F1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98913F-E054-480C-887F-7C857727B76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Eli / UI coverage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D418EA-991F-48B4-BCA4-15AABEDB6E6E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8C616C-8EA2-4CA8-B262-D3454F314B0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CAB7BE-F657-4E5E-8EEE-A5B2C37E8EB1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3C4F47-6BFA-4B7D-84E2-517CE17FF4A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UI tests attack places where a desktop app can feel correct but behave incorrectly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CBB6FD-377F-4D3A-9346-72DDA133C9DF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V2 introduced the new interaction layer, so UI coverage is the largest part of the suite.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865B0-8D83-4BDB-928F-01328DF723FF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ED62BA-785A-41D4-961C-442292D5DCB4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5BF5C3-3935-4997-AA84-DAF65A6D82F1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Responsiveness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7AB119-B12D-4520-8911-FC2EA91E5343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F94CA1-B1E3-47F0-9777-24D69E3F19AD}"/>
              </a:ext>
            </a:extLst>
          </p:cNvPr>
          <p:cNvSpPr>
            <a:spLocks noGrp="1"/>
          </p:cNvSpPr>
          <p:nvPr/>
        </p:nvSpPr>
        <p:spPr>
          <a:xfrm>
            <a:off x="135255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file loading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532529-805A-4F75-BB52-7F70AA010F09}"/>
              </a:ext>
            </a:extLst>
          </p:cNvPr>
          <p:cNvSpPr>
            <a:spLocks noGrp="1"/>
          </p:cNvSpPr>
          <p:nvPr/>
        </p:nvSpPr>
        <p:spPr>
          <a:xfrm>
            <a:off x="1143000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6A8C67-A088-499C-8D1C-FC44D48A44FA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program selection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F8C7C3-CF7A-4791-851A-0C5B536F6371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35649D-C26E-4EDD-91AA-F9878C16D2AB}"/>
              </a:ext>
            </a:extLst>
          </p:cNvPr>
          <p:cNvSpPr>
            <a:spLocks noGrp="1"/>
          </p:cNvSpPr>
          <p:nvPr/>
        </p:nvSpPr>
        <p:spPr>
          <a:xfrm>
            <a:off x="135255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date editing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BFBC25-F296-4B95-A531-13F18E100C15}"/>
              </a:ext>
            </a:extLst>
          </p:cNvPr>
          <p:cNvSpPr>
            <a:spLocks noGrp="1"/>
          </p:cNvSpPr>
          <p:nvPr/>
        </p:nvSpPr>
        <p:spPr>
          <a:xfrm>
            <a:off x="1143000" y="39909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EFDEAA-DEE5-4F2B-B9A5-A9B0CC9BC563}"/>
              </a:ext>
            </a:extLst>
          </p:cNvPr>
          <p:cNvSpPr>
            <a:spLocks noGrp="1"/>
          </p:cNvSpPr>
          <p:nvPr/>
        </p:nvSpPr>
        <p:spPr>
          <a:xfrm>
            <a:off x="1352550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process indicators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EC1882-0F14-4B0D-92C3-036ABA9AEC8E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C7B274-C359-4B6A-823A-1AC7DE5A4CD4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3379BE-4EE7-4705-AB2C-7FA88123F973}"/>
              </a:ext>
            </a:extLst>
          </p:cNvPr>
          <p:cNvSpPr>
            <a:spLocks noGrp="1"/>
          </p:cNvSpPr>
          <p:nvPr/>
        </p:nvSpPr>
        <p:spPr>
          <a:xfrm>
            <a:off x="378142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Calendar behavior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765048-DFD4-45AD-BA6B-D4B69DEE8DB0}"/>
              </a:ext>
            </a:extLst>
          </p:cNvPr>
          <p:cNvSpPr>
            <a:spLocks noGrp="1"/>
          </p:cNvSpPr>
          <p:nvPr/>
        </p:nvSpPr>
        <p:spPr>
          <a:xfrm>
            <a:off x="3800475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FE7981-39BE-4113-9A42-DEA84AC11691}"/>
              </a:ext>
            </a:extLst>
          </p:cNvPr>
          <p:cNvSpPr>
            <a:spLocks noGrp="1"/>
          </p:cNvSpPr>
          <p:nvPr/>
        </p:nvSpPr>
        <p:spPr>
          <a:xfrm>
            <a:off x="401002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input calendar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8B3DBC-B090-4021-B57F-D9DB7B5DCE2A}"/>
              </a:ext>
            </a:extLst>
          </p:cNvPr>
          <p:cNvSpPr>
            <a:spLocks noGrp="1"/>
          </p:cNvSpPr>
          <p:nvPr/>
        </p:nvSpPr>
        <p:spPr>
          <a:xfrm>
            <a:off x="3800475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C586060-B8B9-467F-BACB-DB39E56E4B56}"/>
              </a:ext>
            </a:extLst>
          </p:cNvPr>
          <p:cNvSpPr>
            <a:spLocks noGrp="1"/>
          </p:cNvSpPr>
          <p:nvPr/>
        </p:nvSpPr>
        <p:spPr>
          <a:xfrm>
            <a:off x="401002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preview-only output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7503BF-1FBF-4471-A1E4-2A184DCC6E28}"/>
              </a:ext>
            </a:extLst>
          </p:cNvPr>
          <p:cNvSpPr>
            <a:spLocks noGrp="1"/>
          </p:cNvSpPr>
          <p:nvPr/>
        </p:nvSpPr>
        <p:spPr>
          <a:xfrm>
            <a:off x="3800475" y="36671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069B4F-A6B1-40D0-B6C1-03467D412926}"/>
              </a:ext>
            </a:extLst>
          </p:cNvPr>
          <p:cNvSpPr>
            <a:spLocks noGrp="1"/>
          </p:cNvSpPr>
          <p:nvPr/>
        </p:nvSpPr>
        <p:spPr>
          <a:xfrm>
            <a:off x="401002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date toggles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B263D23-45FC-46C6-82E7-F428A998E3DD}"/>
              </a:ext>
            </a:extLst>
          </p:cNvPr>
          <p:cNvSpPr>
            <a:spLocks noGrp="1"/>
          </p:cNvSpPr>
          <p:nvPr/>
        </p:nvSpPr>
        <p:spPr>
          <a:xfrm>
            <a:off x="3800475" y="39909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7B7AFD-F502-4CA1-92F0-58020E26EDC5}"/>
              </a:ext>
            </a:extLst>
          </p:cNvPr>
          <p:cNvSpPr>
            <a:spLocks noGrp="1"/>
          </p:cNvSpPr>
          <p:nvPr/>
        </p:nvSpPr>
        <p:spPr>
          <a:xfrm>
            <a:off x="4010025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selected refresh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C96D2B-83D5-43BD-941F-22183F9DCCA5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576810-3E77-4F38-93E6-632CF6AEC645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7B60C8-5C95-43F5-9F10-770BB0D09C7A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Pagination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D9A41A6-FDEE-482C-91C8-1240985C09B7}"/>
              </a:ext>
            </a:extLst>
          </p:cNvPr>
          <p:cNvSpPr>
            <a:spLocks noGrp="1"/>
          </p:cNvSpPr>
          <p:nvPr/>
        </p:nvSpPr>
        <p:spPr>
          <a:xfrm>
            <a:off x="645795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81460C-2ACF-4ED5-9B1F-BED3580E2BC7}"/>
              </a:ext>
            </a:extLst>
          </p:cNvPr>
          <p:cNvSpPr>
            <a:spLocks noGrp="1"/>
          </p:cNvSpPr>
          <p:nvPr/>
        </p:nvSpPr>
        <p:spPr>
          <a:xfrm>
            <a:off x="666750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one-based pages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D06B6F0-6401-42D5-B32C-257A58EE5F83}"/>
              </a:ext>
            </a:extLst>
          </p:cNvPr>
          <p:cNvSpPr>
            <a:spLocks noGrp="1"/>
          </p:cNvSpPr>
          <p:nvPr/>
        </p:nvSpPr>
        <p:spPr>
          <a:xfrm>
            <a:off x="645795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592DB1A-B769-4BE2-8751-405258EE5C4D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large-number labels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7C9BA7A-70BD-4E9B-9643-0C4CACFD86BE}"/>
              </a:ext>
            </a:extLst>
          </p:cNvPr>
          <p:cNvSpPr>
            <a:spLocks noGrp="1"/>
          </p:cNvSpPr>
          <p:nvPr/>
        </p:nvSpPr>
        <p:spPr>
          <a:xfrm>
            <a:off x="6457950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7ED3153-ABFE-433B-BD2D-4A58B8283466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NEXT requests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3762493-30C4-4269-BA2D-DF8EA688FC9D}"/>
              </a:ext>
            </a:extLst>
          </p:cNvPr>
          <p:cNvSpPr>
            <a:spLocks noGrp="1"/>
          </p:cNvSpPr>
          <p:nvPr/>
        </p:nvSpPr>
        <p:spPr>
          <a:xfrm>
            <a:off x="6457950" y="39909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1B017-7799-4EA9-8DB3-D8C507867DA9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last page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645E9E6-8E89-4BF8-B1F1-975000378B8F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6BB8789-1056-4AD4-A9FB-E52F9083B45E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E64AAF2-D4DA-491D-8D73-B1CB044447E2}"/>
              </a:ext>
            </a:extLst>
          </p:cNvPr>
          <p:cNvSpPr>
            <a:spLocks noGrp="1"/>
          </p:cNvSpPr>
          <p:nvPr/>
        </p:nvSpPr>
        <p:spPr>
          <a:xfrm>
            <a:off x="909637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Coverage count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2A5AAA9-5A16-4903-818C-99050EE0F1EE}"/>
              </a:ext>
            </a:extLst>
          </p:cNvPr>
          <p:cNvSpPr>
            <a:spLocks noGrp="1"/>
          </p:cNvSpPr>
          <p:nvPr/>
        </p:nvSpPr>
        <p:spPr>
          <a:xfrm>
            <a:off x="9115425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87A60EA-B4FA-4A2D-8CA1-92A6F09B8021}"/>
              </a:ext>
            </a:extLst>
          </p:cNvPr>
          <p:cNvSpPr>
            <a:spLocks noGrp="1"/>
          </p:cNvSpPr>
          <p:nvPr/>
        </p:nvSpPr>
        <p:spPr>
          <a:xfrm>
            <a:off x="932497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135 UI tests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1ADA7F7-8BEA-43AC-9A41-872B003BC2E9}"/>
              </a:ext>
            </a:extLst>
          </p:cNvPr>
          <p:cNvSpPr>
            <a:spLocks noGrp="1"/>
          </p:cNvSpPr>
          <p:nvPr/>
        </p:nvSpPr>
        <p:spPr>
          <a:xfrm>
            <a:off x="9115425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4AF088B-89BF-48A3-84FD-C4C334C7851F}"/>
              </a:ext>
            </a:extLst>
          </p:cNvPr>
          <p:cNvSpPr>
            <a:spLocks noGrp="1"/>
          </p:cNvSpPr>
          <p:nvPr/>
        </p:nvSpPr>
        <p:spPr>
          <a:xfrm>
            <a:off x="932497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risk added by desktop layer</a:t>
            </a:r>
          </a:p>
        </p:txBody>
      </p:sp>
    </p:spTree>
    <p:extLst>
      <p:ext uri="{BB962C8B-B14F-4D97-AF65-F5344CB8AC3E}">
        <p14:creationId xmlns:p14="http://schemas.microsoft.com/office/powerpoint/2010/main" val="1488855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8C7454CF-2AAB-4F7C-A449-37C576FF77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94E5F4-967B-40F5-99CD-2FC5967087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DE528F-CA53-4371-9C1C-12F1B493693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5CBCF-1D1C-4D2B-A35C-A0FE21349AE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96237-56CD-430A-8C1E-9D5C12E1CE9C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765D1A-3157-4FD9-BCA3-0C7F61FEAC3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61629-3DED-4CA0-99C7-988CBC749E5B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C5E8BC-81D0-495D-885D-78205F10C2A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F5DCC-CD4B-472B-A072-FEF47D5CDECF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16D540-0252-44FB-84C2-D1B7A059A9D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67F22E-1E68-413A-9C6E-7CB2736C9B8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607D6-DA6F-4545-8220-1BB161190CC2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65C936-930F-4D53-B77C-8A59F2BF221B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AB38FA-62DD-4B9A-BB07-E8AF51F4E6A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1D15AC-9B89-413D-AD23-589D82A9EA8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E490B1-F0EC-4259-ABD1-6918F3CA130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FB4D83-1709-4B7D-A585-7313F506024C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192CF-3716-4EFE-A6FC-2E6504A14B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4937C2-6A2A-455C-87D7-8A3C782AAE81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C4089A-50DB-40F7-92DD-AF5883B2C06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0D4F70-073F-4CB1-A0A2-2949A59F7EA8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58CF3-D9E0-4A87-981D-8A6CE041FE9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DD1AFD-408D-4B2C-A1C7-5869000D598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5A88A9-F24B-4E67-B9AF-7B79DE10D82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A24343-8923-4A04-B3ED-00A235D42935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972E70-0F99-49C0-A6F2-328DECD8164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AFF2E9-0F81-4C3B-A85E-757D71D0A49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Eli / service coverage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4A62E2-001E-40BF-BD33-37D99275B5D8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956552-67C1-4097-8C23-ECDD87142B4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8EA73E-CBB3-4965-B5F1-001F02D34AA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FFF715-3307-4FEF-93BC-CACF01553A0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Service tests validate the translation layer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95B323-1384-45A3-A261-E6749A16A24D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These tests bridge GUI behavior and backend correctness.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F6D120-8C86-4C2D-9DC3-9D4896075871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60A526-6847-4653-B0FD-08B820EC2026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C6529A-CAC0-4801-A867-7FC4B06528A0}"/>
              </a:ext>
            </a:extLst>
          </p:cNvPr>
          <p:cNvSpPr>
            <a:spLocks noGrp="1"/>
          </p:cNvSpPr>
          <p:nvPr/>
        </p:nvSpPr>
        <p:spPr>
          <a:xfrm>
            <a:off x="933450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Input state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706851-4A24-4F6B-8F4F-1B60334328A7}"/>
              </a:ext>
            </a:extLst>
          </p:cNvPr>
          <p:cNvSpPr>
            <a:spLocks noGrp="1"/>
          </p:cNvSpPr>
          <p:nvPr/>
        </p:nvSpPr>
        <p:spPr>
          <a:xfrm>
            <a:off x="95250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2E50E4-BED7-4E6C-A41F-BD0F666A5099}"/>
              </a:ext>
            </a:extLst>
          </p:cNvPr>
          <p:cNvSpPr>
            <a:spLocks noGrp="1"/>
          </p:cNvSpPr>
          <p:nvPr/>
        </p:nvSpPr>
        <p:spPr>
          <a:xfrm>
            <a:off x="1162050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selected programs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895487-8BCD-4A1A-A3F9-A52640EBDE70}"/>
              </a:ext>
            </a:extLst>
          </p:cNvPr>
          <p:cNvSpPr>
            <a:spLocks noGrp="1"/>
          </p:cNvSpPr>
          <p:nvPr/>
        </p:nvSpPr>
        <p:spPr>
          <a:xfrm>
            <a:off x="95250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9BDE26-F86F-4B62-9477-B8D7D9EF1380}"/>
              </a:ext>
            </a:extLst>
          </p:cNvPr>
          <p:cNvSpPr>
            <a:spLocks noGrp="1"/>
          </p:cNvSpPr>
          <p:nvPr/>
        </p:nvSpPr>
        <p:spPr>
          <a:xfrm>
            <a:off x="1162050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runtime course files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244F7E-3EAB-4F8B-AEAF-88FA2A9E1DAA}"/>
              </a:ext>
            </a:extLst>
          </p:cNvPr>
          <p:cNvSpPr>
            <a:spLocks noGrp="1"/>
          </p:cNvSpPr>
          <p:nvPr/>
        </p:nvSpPr>
        <p:spPr>
          <a:xfrm>
            <a:off x="952500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49A9CC-0613-4CD1-B056-A149526CD39C}"/>
              </a:ext>
            </a:extLst>
          </p:cNvPr>
          <p:cNvSpPr>
            <a:spLocks noGrp="1"/>
          </p:cNvSpPr>
          <p:nvPr/>
        </p:nvSpPr>
        <p:spPr>
          <a:xfrm>
            <a:off x="1162050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exam dates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65336B-531A-4DBC-8610-603B06AA4F9D}"/>
              </a:ext>
            </a:extLst>
          </p:cNvPr>
          <p:cNvSpPr>
            <a:spLocks noGrp="1"/>
          </p:cNvSpPr>
          <p:nvPr/>
        </p:nvSpPr>
        <p:spPr>
          <a:xfrm>
            <a:off x="952500" y="39909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A3A180-3B8C-4A4E-86DA-513077CA01A0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invalid period indexes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AA8FF2-4A8C-45A4-923C-CD056A147715}"/>
              </a:ext>
            </a:extLst>
          </p:cNvPr>
          <p:cNvSpPr>
            <a:spLocks noGrp="1"/>
          </p:cNvSpPr>
          <p:nvPr/>
        </p:nvSpPr>
        <p:spPr>
          <a:xfrm>
            <a:off x="2943225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34367B-E3B0-4C57-B1EB-A375E6FD8C38}"/>
              </a:ext>
            </a:extLst>
          </p:cNvPr>
          <p:cNvSpPr>
            <a:spLocks noGrp="1"/>
          </p:cNvSpPr>
          <p:nvPr/>
        </p:nvSpPr>
        <p:spPr>
          <a:xfrm>
            <a:off x="2943225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E77EBF-8833-426C-A821-DE65F54A214C}"/>
              </a:ext>
            </a:extLst>
          </p:cNvPr>
          <p:cNvSpPr>
            <a:spLocks noGrp="1"/>
          </p:cNvSpPr>
          <p:nvPr/>
        </p:nvSpPr>
        <p:spPr>
          <a:xfrm>
            <a:off x="3152775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File loading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3148AB-6677-4410-81ED-15EFC460EBB9}"/>
              </a:ext>
            </a:extLst>
          </p:cNvPr>
          <p:cNvSpPr>
            <a:spLocks noGrp="1"/>
          </p:cNvSpPr>
          <p:nvPr/>
        </p:nvSpPr>
        <p:spPr>
          <a:xfrm>
            <a:off x="3171825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0AF1DD5-B3BD-4B16-861B-F915228E21AC}"/>
              </a:ext>
            </a:extLst>
          </p:cNvPr>
          <p:cNvSpPr>
            <a:spLocks noGrp="1"/>
          </p:cNvSpPr>
          <p:nvPr/>
        </p:nvSpPr>
        <p:spPr>
          <a:xfrm>
            <a:off x="3381375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replace/update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4D0183-33BD-44A2-8800-8423786D037F}"/>
              </a:ext>
            </a:extLst>
          </p:cNvPr>
          <p:cNvSpPr>
            <a:spLocks noGrp="1"/>
          </p:cNvSpPr>
          <p:nvPr/>
        </p:nvSpPr>
        <p:spPr>
          <a:xfrm>
            <a:off x="3171825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DF8AA1-2214-4386-873B-7DEC9062C835}"/>
              </a:ext>
            </a:extLst>
          </p:cNvPr>
          <p:cNvSpPr>
            <a:spLocks noGrp="1"/>
          </p:cNvSpPr>
          <p:nvPr/>
        </p:nvSpPr>
        <p:spPr>
          <a:xfrm>
            <a:off x="3381375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duplicate merge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964EF1-E3F6-4661-A055-4B23E655CA66}"/>
              </a:ext>
            </a:extLst>
          </p:cNvPr>
          <p:cNvSpPr>
            <a:spLocks noGrp="1"/>
          </p:cNvSpPr>
          <p:nvPr/>
        </p:nvSpPr>
        <p:spPr>
          <a:xfrm>
            <a:off x="3171825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F43864-87C2-40BE-8A07-92D874DB0DAE}"/>
              </a:ext>
            </a:extLst>
          </p:cNvPr>
          <p:cNvSpPr>
            <a:spLocks noGrp="1"/>
          </p:cNvSpPr>
          <p:nvPr/>
        </p:nvSpPr>
        <p:spPr>
          <a:xfrm>
            <a:off x="3381375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invalid program IDs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91B47E-1B6D-41F7-B2C0-A81D9B110737}"/>
              </a:ext>
            </a:extLst>
          </p:cNvPr>
          <p:cNvSpPr>
            <a:spLocks noGrp="1"/>
          </p:cNvSpPr>
          <p:nvPr/>
        </p:nvSpPr>
        <p:spPr>
          <a:xfrm>
            <a:off x="3171825" y="39909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4E0F865-746C-4CC3-88E8-A52D7E73E532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stale source detection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DF40D4-F9BE-4CA4-966C-36C0647582E0}"/>
              </a:ext>
            </a:extLst>
          </p:cNvPr>
          <p:cNvSpPr>
            <a:spLocks noGrp="1"/>
          </p:cNvSpPr>
          <p:nvPr/>
        </p:nvSpPr>
        <p:spPr>
          <a:xfrm>
            <a:off x="5162550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E4DE93C-E5F2-4A27-A1B1-2B3BEA77547F}"/>
              </a:ext>
            </a:extLst>
          </p:cNvPr>
          <p:cNvSpPr>
            <a:spLocks noGrp="1"/>
          </p:cNvSpPr>
          <p:nvPr/>
        </p:nvSpPr>
        <p:spPr>
          <a:xfrm>
            <a:off x="5162550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8544A4-BA76-4655-98E4-D84148700010}"/>
              </a:ext>
            </a:extLst>
          </p:cNvPr>
          <p:cNvSpPr>
            <a:spLocks noGrp="1"/>
          </p:cNvSpPr>
          <p:nvPr/>
        </p:nvSpPr>
        <p:spPr>
          <a:xfrm>
            <a:off x="5372100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Internal cache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F63D4C-5187-4F7C-B084-E729DE039F74}"/>
              </a:ext>
            </a:extLst>
          </p:cNvPr>
          <p:cNvSpPr>
            <a:spLocks noGrp="1"/>
          </p:cNvSpPr>
          <p:nvPr/>
        </p:nvSpPr>
        <p:spPr>
          <a:xfrm>
            <a:off x="5391150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5D9374-7E6B-4F2E-AD83-D797ADB36668}"/>
              </a:ext>
            </a:extLst>
          </p:cNvPr>
          <p:cNvSpPr>
            <a:spLocks noGrp="1"/>
          </p:cNvSpPr>
          <p:nvPr/>
        </p:nvSpPr>
        <p:spPr>
          <a:xfrm>
            <a:off x="5600700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hash fingerprints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136614-7779-4A00-BD40-0B0DAE8C04B9}"/>
              </a:ext>
            </a:extLst>
          </p:cNvPr>
          <p:cNvSpPr>
            <a:spLocks noGrp="1"/>
          </p:cNvSpPr>
          <p:nvPr/>
        </p:nvSpPr>
        <p:spPr>
          <a:xfrm>
            <a:off x="5391150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BC21E6-9555-4463-ACEF-2B7B290E6C0A}"/>
              </a:ext>
            </a:extLst>
          </p:cNvPr>
          <p:cNvSpPr>
            <a:spLocks noGrp="1"/>
          </p:cNvSpPr>
          <p:nvPr/>
        </p:nvSpPr>
        <p:spPr>
          <a:xfrm>
            <a:off x="5600700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unchanged loading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0ECE4C7-A52E-460A-B9FC-99D47D8BB302}"/>
              </a:ext>
            </a:extLst>
          </p:cNvPr>
          <p:cNvSpPr>
            <a:spLocks noGrp="1"/>
          </p:cNvSpPr>
          <p:nvPr/>
        </p:nvSpPr>
        <p:spPr>
          <a:xfrm>
            <a:off x="5391150" y="36671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49723D-79ED-40BA-803D-68F140506CED}"/>
              </a:ext>
            </a:extLst>
          </p:cNvPr>
          <p:cNvSpPr>
            <a:spLocks noGrp="1"/>
          </p:cNvSpPr>
          <p:nvPr/>
        </p:nvSpPr>
        <p:spPr>
          <a:xfrm>
            <a:off x="5600700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corruption bypass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52A2F7B-975C-46AE-B13C-559914C07C43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9A88DBB-8120-487E-A6BA-90FAF99F5C8F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FFCE3B2-6D4D-44DB-A67D-00B2C5F3FDF9}"/>
              </a:ext>
            </a:extLst>
          </p:cNvPr>
          <p:cNvSpPr>
            <a:spLocks noGrp="1"/>
          </p:cNvSpPr>
          <p:nvPr/>
        </p:nvSpPr>
        <p:spPr>
          <a:xfrm>
            <a:off x="7591425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Calendar service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2C0393-2E6A-4259-93A2-876716688B69}"/>
              </a:ext>
            </a:extLst>
          </p:cNvPr>
          <p:cNvSpPr>
            <a:spLocks noGrp="1"/>
          </p:cNvSpPr>
          <p:nvPr/>
        </p:nvSpPr>
        <p:spPr>
          <a:xfrm>
            <a:off x="7610475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1EB888A-A64E-4FEE-A24C-E9B3CCB1D0DB}"/>
              </a:ext>
            </a:extLst>
          </p:cNvPr>
          <p:cNvSpPr>
            <a:spLocks noGrp="1"/>
          </p:cNvSpPr>
          <p:nvPr/>
        </p:nvSpPr>
        <p:spPr>
          <a:xfrm>
            <a:off x="7820025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AAAA69D-4BC6-4844-8FFF-938B30D5BD8F}"/>
              </a:ext>
            </a:extLst>
          </p:cNvPr>
          <p:cNvSpPr>
            <a:spLocks noGrp="1"/>
          </p:cNvSpPr>
          <p:nvPr/>
        </p:nvSpPr>
        <p:spPr>
          <a:xfrm>
            <a:off x="7610475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A5B024E-0DE8-40FB-818E-E15F91DFF0CC}"/>
              </a:ext>
            </a:extLst>
          </p:cNvPr>
          <p:cNvSpPr>
            <a:spLocks noGrp="1"/>
          </p:cNvSpPr>
          <p:nvPr/>
        </p:nvSpPr>
        <p:spPr>
          <a:xfrm>
            <a:off x="7820025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sorts scheduled exams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A5443B9-DD3C-47CE-A259-C34A8D530C2B}"/>
              </a:ext>
            </a:extLst>
          </p:cNvPr>
          <p:cNvSpPr>
            <a:spLocks noGrp="1"/>
          </p:cNvSpPr>
          <p:nvPr/>
        </p:nvSpPr>
        <p:spPr>
          <a:xfrm>
            <a:off x="7610475" y="36671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BBA0D72-65A6-4937-9568-DFF5E69AA698}"/>
              </a:ext>
            </a:extLst>
          </p:cNvPr>
          <p:cNvSpPr>
            <a:spLocks noGrp="1"/>
          </p:cNvSpPr>
          <p:nvPr/>
        </p:nvSpPr>
        <p:spPr>
          <a:xfrm>
            <a:off x="7820025" y="35814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selected period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91527D-FBC6-4524-85AA-69E88CB61265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195262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76D5D35-9478-4514-8DB6-9EA77CC1FAA4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57150" cy="276225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9638693-4D74-4332-86F2-10D2144E2AA2}"/>
              </a:ext>
            </a:extLst>
          </p:cNvPr>
          <p:cNvSpPr>
            <a:spLocks noGrp="1"/>
          </p:cNvSpPr>
          <p:nvPr/>
        </p:nvSpPr>
        <p:spPr>
          <a:xfrm>
            <a:off x="9810750" y="2438400"/>
            <a:ext cx="15335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Schedule writer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C016131-F624-4C65-8A96-1AD9BC08625A}"/>
              </a:ext>
            </a:extLst>
          </p:cNvPr>
          <p:cNvSpPr>
            <a:spLocks noGrp="1"/>
          </p:cNvSpPr>
          <p:nvPr/>
        </p:nvSpPr>
        <p:spPr>
          <a:xfrm>
            <a:off x="9829800" y="3019425"/>
            <a:ext cx="76200" cy="762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E8D785B-010C-4854-8230-ADCDA7780E5C}"/>
              </a:ext>
            </a:extLst>
          </p:cNvPr>
          <p:cNvSpPr>
            <a:spLocks noGrp="1"/>
          </p:cNvSpPr>
          <p:nvPr/>
        </p:nvSpPr>
        <p:spPr>
          <a:xfrm>
            <a:off x="10039350" y="293370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visible schedule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F990179-23E8-4753-93B2-5C478E049140}"/>
              </a:ext>
            </a:extLst>
          </p:cNvPr>
          <p:cNvSpPr>
            <a:spLocks noGrp="1"/>
          </p:cNvSpPr>
          <p:nvPr/>
        </p:nvSpPr>
        <p:spPr>
          <a:xfrm>
            <a:off x="9829800" y="3343275"/>
            <a:ext cx="76200" cy="76200"/>
          </a:xfrm>
          <a:prstGeom prst="rect">
            <a:avLst/>
          </a:prstGeom>
          <a:solidFill>
            <a:srgbClr val="F37C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9B264A2-083A-4A3D-9AAA-522EC728C158}"/>
              </a:ext>
            </a:extLst>
          </p:cNvPr>
          <p:cNvSpPr>
            <a:spLocks noGrp="1"/>
          </p:cNvSpPr>
          <p:nvPr/>
        </p:nvSpPr>
        <p:spPr>
          <a:xfrm>
            <a:off x="10039350" y="3257550"/>
            <a:ext cx="1343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readable text</a:t>
            </a:r>
          </a:p>
        </p:txBody>
      </p:sp>
    </p:spTree>
    <p:extLst>
      <p:ext uri="{BB962C8B-B14F-4D97-AF65-F5344CB8AC3E}">
        <p14:creationId xmlns:p14="http://schemas.microsoft.com/office/powerpoint/2010/main" val="1202403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0E0B1E62-DC11-4F6B-8869-963F6C56A6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6F8CE6-218A-4DB7-B881-2A7EB24AA8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44EFDD-FD4B-4003-90CC-F73BCA8B60AF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DEF7B-7D4E-4C62-B85F-A62849F9A3B8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56D98-0556-49F9-B68B-E96E5F000EF8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F70746-1852-4AF3-86B4-295DAD669C9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58C404-4B61-458D-B412-8A1A2F1582FD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1ECD59-77E2-4DCC-B69D-3CFC9086BA1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D6EEE8-5DC8-44E5-97C1-794DEE24EE4C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5B31BC-1C8B-4319-ADB8-11CDE4F45EB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D347D-3078-4588-B9A0-D9CC0725955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9885A9-5C8E-4236-8597-4BAD3B03F38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6DB93F-15C6-43A9-A0A8-F20485EBD88C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731EC3-DBD4-4012-9DBC-13EEE7B00E3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80BA9-EA17-40DD-8110-370466D706BC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535B5E-9FC7-4568-9757-70968C307C72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1676D5-2839-40C9-8B8C-535A7EFA5A65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C8A61B-A866-44FB-B162-0F13E591F3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6522AD-AA6B-43DD-9E65-A45BA257882A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ED76BF-1B58-412D-A9DA-3EBA8617845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C38CF-5C3F-45C8-B519-C113CAE76DA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A0CA02-C605-4576-B746-7CA0D5CF57C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1C153-7ED4-4755-A15C-51B4C89090E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06FFEB-91A5-4B83-B50F-4F53B8757B4B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CFB83B-C156-4AF3-ACE4-B70167428D5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C67F15-FDEB-4BBE-B6B3-B8C035B2D0C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3BB24A-BD1E-43DD-B824-34E40B94C8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Eli / boundary coverage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6AFC96-784B-4D57-9676-CCF7E22E2B7A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7780C0-9DE2-4A96-9FBA-CD28EFDCAD9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1681D5-D23D-4255-AF69-64F173491915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2DC77D-12E9-49D4-A32A-1AF10EA78AA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Architecture tests turn review decisions into executable checks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3F617C-4DBF-424A-BA4A-11D56C1F0A39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They check dependency direction, network isolation, local execution, and formatting ownership.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F51E1-5089-4B50-B9E7-3D9B7A76EF0D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D28F60-159D-4E75-A283-5F3B80B7094E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B7BE9A-72C2-4FBC-9106-222FCF1602FA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Import boundaries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D10349-D9B5-4E8A-B58E-1CFF240878FA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A43665-D356-4C14-AC05-2471B1AF8FCB}"/>
              </a:ext>
            </a:extLst>
          </p:cNvPr>
          <p:cNvSpPr>
            <a:spLocks noGrp="1"/>
          </p:cNvSpPr>
          <p:nvPr/>
        </p:nvSpPr>
        <p:spPr>
          <a:xfrm>
            <a:off x="135255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 package avoids V1 core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6A4E8-7915-4F46-8ECF-EFCC60E9742A}"/>
              </a:ext>
            </a:extLst>
          </p:cNvPr>
          <p:cNvSpPr>
            <a:spLocks noGrp="1"/>
          </p:cNvSpPr>
          <p:nvPr/>
        </p:nvSpPr>
        <p:spPr>
          <a:xfrm>
            <a:off x="1143000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BC643D-9CD0-41B5-8531-9A46CDF3CC59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V1 core avoids UI/PyQt6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CF6E73-1374-408E-A572-DF76619E443C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84087B-680C-4839-9C40-1B57E4BB961F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FE208D-69ED-43A1-A448-A33071E8426B}"/>
              </a:ext>
            </a:extLst>
          </p:cNvPr>
          <p:cNvSpPr>
            <a:spLocks noGrp="1"/>
          </p:cNvSpPr>
          <p:nvPr/>
        </p:nvSpPr>
        <p:spPr>
          <a:xfrm>
            <a:off x="378142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Network isolation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A4CF32-A1EB-4E60-AD5F-9DBFD500CBD5}"/>
              </a:ext>
            </a:extLst>
          </p:cNvPr>
          <p:cNvSpPr>
            <a:spLocks noGrp="1"/>
          </p:cNvSpPr>
          <p:nvPr/>
        </p:nvSpPr>
        <p:spPr>
          <a:xfrm>
            <a:off x="3800475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B659E8-0EC5-4478-BF27-BD81CEECD611}"/>
              </a:ext>
            </a:extLst>
          </p:cNvPr>
          <p:cNvSpPr>
            <a:spLocks noGrp="1"/>
          </p:cNvSpPr>
          <p:nvPr/>
        </p:nvSpPr>
        <p:spPr>
          <a:xfrm>
            <a:off x="401002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forbidden modules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19006C-4DD9-4022-AAEC-7C4C0D9A918E}"/>
              </a:ext>
            </a:extLst>
          </p:cNvPr>
          <p:cNvSpPr>
            <a:spLocks noGrp="1"/>
          </p:cNvSpPr>
          <p:nvPr/>
        </p:nvSpPr>
        <p:spPr>
          <a:xfrm>
            <a:off x="3800475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F061BD-A3F6-4291-A5CF-C4399A301193}"/>
              </a:ext>
            </a:extLst>
          </p:cNvPr>
          <p:cNvSpPr>
            <a:spLocks noGrp="1"/>
          </p:cNvSpPr>
          <p:nvPr/>
        </p:nvSpPr>
        <p:spPr>
          <a:xfrm>
            <a:off x="401002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socket access blocked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3EB8F0-C003-493B-B34C-AD81CE27B7F5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3DEEEB-F968-4AD6-B186-0B0D206DF668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034D0F-FE3A-4182-957A-DF55002FDC1D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Local process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712D27-20C0-40BD-B6C0-BC669F4A0E0A}"/>
              </a:ext>
            </a:extLst>
          </p:cNvPr>
          <p:cNvSpPr>
            <a:spLocks noGrp="1"/>
          </p:cNvSpPr>
          <p:nvPr/>
        </p:nvSpPr>
        <p:spPr>
          <a:xfrm>
            <a:off x="645795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66C29C-C987-4E8F-A16A-A2C78D456836}"/>
              </a:ext>
            </a:extLst>
          </p:cNvPr>
          <p:cNvSpPr>
            <a:spLocks noGrp="1"/>
          </p:cNvSpPr>
          <p:nvPr/>
        </p:nvSpPr>
        <p:spPr>
          <a:xfrm>
            <a:off x="666750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QProcess has parent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6DB528-5239-4E8B-BCC9-042DEBDA0AB3}"/>
              </a:ext>
            </a:extLst>
          </p:cNvPr>
          <p:cNvSpPr>
            <a:spLocks noGrp="1"/>
          </p:cNvSpPr>
          <p:nvPr/>
        </p:nvSpPr>
        <p:spPr>
          <a:xfrm>
            <a:off x="645795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B128E1-F6EA-4500-8400-57E7FBFFB55A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local execution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149D95-169A-440F-A677-D8888DAB8F9E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27AEF31-13F4-440C-B336-7EED7DA66B2B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962D458-F55B-4E11-81EE-769478B93604}"/>
              </a:ext>
            </a:extLst>
          </p:cNvPr>
          <p:cNvSpPr>
            <a:spLocks noGrp="1"/>
          </p:cNvSpPr>
          <p:nvPr/>
        </p:nvSpPr>
        <p:spPr>
          <a:xfrm>
            <a:off x="909637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Output boundary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3A319C-2420-4115-89A2-0A0DA83CC8AB}"/>
              </a:ext>
            </a:extLst>
          </p:cNvPr>
          <p:cNvSpPr>
            <a:spLocks noGrp="1"/>
          </p:cNvSpPr>
          <p:nvPr/>
        </p:nvSpPr>
        <p:spPr>
          <a:xfrm>
            <a:off x="9115425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1CC8FB-2568-4D89-AAC9-4EA8A636A26E}"/>
              </a:ext>
            </a:extLst>
          </p:cNvPr>
          <p:cNvSpPr>
            <a:spLocks noGrp="1"/>
          </p:cNvSpPr>
          <p:nvPr/>
        </p:nvSpPr>
        <p:spPr>
          <a:xfrm>
            <a:off x="932497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schedulers delegate text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A99754F-1E82-43D0-9AB4-7C020247E3DF}"/>
              </a:ext>
            </a:extLst>
          </p:cNvPr>
          <p:cNvSpPr>
            <a:spLocks noGrp="1"/>
          </p:cNvSpPr>
          <p:nvPr/>
        </p:nvSpPr>
        <p:spPr>
          <a:xfrm>
            <a:off x="9115425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E1A22A4-6D5C-4A12-A6D0-832AAE698D09}"/>
              </a:ext>
            </a:extLst>
          </p:cNvPr>
          <p:cNvSpPr>
            <a:spLocks noGrp="1"/>
          </p:cNvSpPr>
          <p:nvPr/>
        </p:nvSpPr>
        <p:spPr>
          <a:xfrm>
            <a:off x="932497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formatter owns protocol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96A1227-60F0-41AF-BA39-FA9CB86E2FB0}"/>
              </a:ext>
            </a:extLst>
          </p:cNvPr>
          <p:cNvSpPr>
            <a:spLocks noGrp="1"/>
          </p:cNvSpPr>
          <p:nvPr/>
        </p:nvSpPr>
        <p:spPr>
          <a:xfrm>
            <a:off x="1676400" y="5429250"/>
            <a:ext cx="8839200" cy="419100"/>
          </a:xfrm>
          <a:prstGeom prst="rect">
            <a:avLst/>
          </a:prstGeom>
          <a:solidFill>
            <a:srgbClr val="223044"/>
          </a:solidFill>
          <a:ln w="9525">
            <a:solidFill>
              <a:srgbClr val="70E7E0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EBCC924-F15F-4A3E-A751-D61F6E0A5C60}"/>
              </a:ext>
            </a:extLst>
          </p:cNvPr>
          <p:cNvSpPr>
            <a:spLocks noGrp="1"/>
          </p:cNvSpPr>
          <p:nvPr/>
        </p:nvSpPr>
        <p:spPr>
          <a:xfrm>
            <a:off x="1962150" y="5543550"/>
            <a:ext cx="8267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The suite protects design decisions that are easy to break later.</a:t>
            </a:r>
          </a:p>
        </p:txBody>
      </p:sp>
    </p:spTree>
    <p:extLst>
      <p:ext uri="{BB962C8B-B14F-4D97-AF65-F5344CB8AC3E}">
        <p14:creationId xmlns:p14="http://schemas.microsoft.com/office/powerpoint/2010/main" val="1712440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0AEB76F6-1F81-4D3F-B6FF-C1A11A302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6337D-B432-404A-8BE3-1E17B13748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9C63F9-AB58-4911-BD45-6249BDB7C54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15FBD-6223-4BDA-9476-7ABCD9E55F29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148E6-47A4-4249-8FD7-E5348D1B6A59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2BBC48-39B1-4B77-815A-E28FFDDC54A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16035-BFA0-470E-876C-3DC43F9FFB0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07FCE2-246D-4FAD-A12B-C2C5572E1054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71FF0-BE51-46DD-B0AE-0BAD0F1BB48B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C8BBEF-5516-484F-8B34-94D56EDC182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AA282-2212-42C3-BEC9-6121B4BF0BE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45865-034E-4879-B8FF-90CEDA629BB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C26E6F-1AE9-4609-BD1D-C3FCDE15C221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624-0E06-406D-B989-B041A307C8B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066318-4A80-4BC2-8AD0-5BE3071600B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070948-3377-4BC3-A174-035D754D8A43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F55A4C-0AF8-4CA5-87C7-98B0BB9ECB17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1BBD5-17B8-4963-B0DA-31CD0E4E5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CA9FFB-E7FD-4FEE-BECC-A77162752CD6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55E646-35B2-473B-831A-AF00DBFBB65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5388AC-6F75-4502-8E08-B63089FA8FC6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B08886-FF7D-45DE-9801-824836EBC71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F2F444-D9A6-4942-B0E1-DEF5821E191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76AE25-93A4-475B-B61B-AC42505B8C8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8EFE19-2990-4FF8-9686-D8718B7EDE8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CD86AA-1FD8-4B25-9AE7-3B112574C7B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C3B7B3-3D25-430D-B7E4-3794B53A41F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Eli / findings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86D7D1-0885-4EB6-B9C9-44C2B65F2BCF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08079F-DB19-4BCC-BBB8-B0DCE3E6A7B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36DBB5-0E70-468B-A13D-12F7AD1A4A05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C12CED-8818-45A8-B773-47D3927A874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Code review findings became fixes or guards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AFE1A0-CAC1-4497-9454-7927EE04AC1F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No failing tests remain in the current automated run.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7D6346-8DB8-4A59-92E8-BE72CCCA2C26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438150"/>
          </a:xfrm>
          <a:prstGeom prst="rect">
            <a:avLst/>
          </a:prstGeom>
          <a:solidFill>
            <a:srgbClr val="27364B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A0EC0C-26E4-43A6-9B13-5DFE26DC0CF2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071DEB-43D4-4180-A8A1-4059773E006F}"/>
              </a:ext>
            </a:extLst>
          </p:cNvPr>
          <p:cNvSpPr>
            <a:spLocks noGrp="1"/>
          </p:cNvSpPr>
          <p:nvPr/>
        </p:nvSpPr>
        <p:spPr>
          <a:xfrm>
            <a:off x="44132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Why it mattered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6C3400-72BB-4FDB-AEF7-31A799E1ECD1}"/>
              </a:ext>
            </a:extLst>
          </p:cNvPr>
          <p:cNvSpPr>
            <a:spLocks noGrp="1"/>
          </p:cNvSpPr>
          <p:nvPr/>
        </p:nvSpPr>
        <p:spPr>
          <a:xfrm>
            <a:off x="80073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F24ED1-B0CB-4165-8A04-BBDAE2E9E5F4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DBE391-15A9-49EC-82C7-470A15BFF10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UI could couple to solver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0BD312-CFE0-45B2-9856-C5EFC5E249DD}"/>
              </a:ext>
            </a:extLst>
          </p:cNvPr>
          <p:cNvSpPr>
            <a:spLocks noGrp="1"/>
          </p:cNvSpPr>
          <p:nvPr/>
        </p:nvSpPr>
        <p:spPr>
          <a:xfrm>
            <a:off x="4432300" y="26289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harder to test and maintain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3923ACA-7804-420E-AB45-71BA4CBFA208}"/>
              </a:ext>
            </a:extLst>
          </p:cNvPr>
          <p:cNvSpPr>
            <a:spLocks noGrp="1"/>
          </p:cNvSpPr>
          <p:nvPr/>
        </p:nvSpPr>
        <p:spPr>
          <a:xfrm>
            <a:off x="8026400" y="26289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import-boundary tests enforce UI -&gt; services -&gt; backend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B64756-578F-4839-8D30-7ED9FEAD6A82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10782300" cy="72390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293E88-794E-4FF6-BD53-4636583B6837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Output parsing could be fragile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59EFC5-4012-482A-87E1-358AC08B3B63}"/>
              </a:ext>
            </a:extLst>
          </p:cNvPr>
          <p:cNvSpPr>
            <a:spLocks noGrp="1"/>
          </p:cNvSpPr>
          <p:nvPr/>
        </p:nvSpPr>
        <p:spPr>
          <a:xfrm>
            <a:off x="4432300" y="33528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stdout chunks can split markers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89D7C6-1283-433B-9801-49B95FFD401D}"/>
              </a:ext>
            </a:extLst>
          </p:cNvPr>
          <p:cNvSpPr>
            <a:spLocks noGrp="1"/>
          </p:cNvSpPr>
          <p:nvPr/>
        </p:nvSpPr>
        <p:spPr>
          <a:xfrm>
            <a:off x="8026400" y="33528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stateful parser and batch-marker tests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5FD465-9297-4881-8A67-484463FC4838}"/>
              </a:ext>
            </a:extLst>
          </p:cNvPr>
          <p:cNvSpPr>
            <a:spLocks noGrp="1"/>
          </p:cNvSpPr>
          <p:nvPr/>
        </p:nvSpPr>
        <p:spPr>
          <a:xfrm>
            <a:off x="704850" y="39814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002B03-21F3-4079-AADB-2FC27238C272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Long runs could freeze UI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8A6392-C9F7-4890-B376-5A58D4091A6E}"/>
              </a:ext>
            </a:extLst>
          </p:cNvPr>
          <p:cNvSpPr>
            <a:spLocks noGrp="1"/>
          </p:cNvSpPr>
          <p:nvPr/>
        </p:nvSpPr>
        <p:spPr>
          <a:xfrm>
            <a:off x="4432300" y="40767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complete systems can grow quickly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05C97B-D620-45FE-B99E-481F2202A5E1}"/>
              </a:ext>
            </a:extLst>
          </p:cNvPr>
          <p:cNvSpPr>
            <a:spLocks noGrp="1"/>
          </p:cNvSpPr>
          <p:nvPr/>
        </p:nvSpPr>
        <p:spPr>
          <a:xfrm>
            <a:off x="8026400" y="40767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QProcess runner, cancel path, responsiveness tests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FC136D-69A1-4830-AEC1-5072B94A1138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10782300" cy="72390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BF2631-1BB1-418E-AB67-629957D48567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Cache could become stale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D37619-3770-4806-8B0D-E7D551C0368C}"/>
              </a:ext>
            </a:extLst>
          </p:cNvPr>
          <p:cNvSpPr>
            <a:spLocks noGrp="1"/>
          </p:cNvSpPr>
          <p:nvPr/>
        </p:nvSpPr>
        <p:spPr>
          <a:xfrm>
            <a:off x="4432300" y="48006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source files may change after loading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945562-22E5-424C-98E4-B260923CB2E4}"/>
              </a:ext>
            </a:extLst>
          </p:cNvPr>
          <p:cNvSpPr>
            <a:spLocks noGrp="1"/>
          </p:cNvSpPr>
          <p:nvPr/>
        </p:nvSpPr>
        <p:spPr>
          <a:xfrm>
            <a:off x="8026400" y="48006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SHA256 staleness detection and reload notification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D4A2B1-CEE6-4DE2-AE93-1329AF2841B9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782300" cy="72390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452E6A0-4CB6-42C4-BF43-D370B975647C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Formatting could leak into solver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93D28F-5F2C-46F3-B60F-A06D71802F45}"/>
              </a:ext>
            </a:extLst>
          </p:cNvPr>
          <p:cNvSpPr>
            <a:spLocks noGrp="1"/>
          </p:cNvSpPr>
          <p:nvPr/>
        </p:nvSpPr>
        <p:spPr>
          <a:xfrm>
            <a:off x="4432300" y="55245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harder to change protocol safely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4C725AB-8D0F-4CFA-82FD-4F4295E008FE}"/>
              </a:ext>
            </a:extLst>
          </p:cNvPr>
          <p:cNvSpPr>
            <a:spLocks noGrp="1"/>
          </p:cNvSpPr>
          <p:nvPr/>
        </p:nvSpPr>
        <p:spPr>
          <a:xfrm>
            <a:off x="8026400" y="5524500"/>
            <a:ext cx="3327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PlainTextScheduleFormatter centralizes output text</a:t>
            </a:r>
          </a:p>
        </p:txBody>
      </p:sp>
    </p:spTree>
    <p:extLst>
      <p:ext uri="{BB962C8B-B14F-4D97-AF65-F5344CB8AC3E}">
        <p14:creationId xmlns:p14="http://schemas.microsoft.com/office/powerpoint/2010/main" val="1182682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82135C4B-0EE7-462B-997B-10C7517881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25B252-FA6E-4F88-B200-BFAB08A8F6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DF19A7-136D-4C20-9F19-FEEC95C7063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5E0AEC-979F-41BD-840F-CF28160AF34C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531F9-24C7-4A66-8AF3-6320AF16F27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99D86E-88A6-4A84-A513-9AE2CA0DB4A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C996D-FF69-4E2D-99FE-0D0E92A0CE97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E3060-04BD-47D1-AD8E-B4EE08F8E7DE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04D468-01AD-4358-AFE5-801E92A49F3D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969DD-F4E0-46B2-9C78-1FAC4AE223B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AEC40-D9D5-4F3C-92F8-5AD3793E9412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485496-D5C1-49ED-B3C1-EA5AAD6833ED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151CC-A485-407E-946D-FC97B8E78C32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72DD4A-AD35-4B4F-9EB7-C82E58CD09C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D01991-8319-4D9E-9BF9-95E95CA5758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EE0C6C-BF00-43D0-B4A9-FB0451756E6C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859C3F-6310-4116-8B07-EEDA256429BD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904A6E-F21E-4318-AF5A-09D8BCA1B9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F192A6-EF8E-4041-AA35-CF4899C3604D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74C4D5-CACB-4C5D-8E23-1043E5B8636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D7ACF3-D007-426E-A300-6A6AD0D22A8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8408B6-1974-4A80-A2C5-1F1CBB87148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28C9CA-2DAC-4637-A6D4-F5A24D8171B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99B6E6-0334-4A78-8254-DEAAEC6FD027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96555-B774-498B-8201-800475F31F76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0ABA15-0235-4507-8F9B-47441BA5B8E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0ED56C-EF61-4A84-8BCE-33167769C63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Section 4 / team insights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3B7DA9-3319-449C-ADFB-02A05719EDC0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F2E586-35DE-4A6C-8535-BF8C27E6E73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4E878D-75E7-431B-A998-DCE546F8555D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FBFCD6-A100-4AC1-AAA2-7FAFCCFF6AB2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428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Full development team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C63373-4315-42E3-AEDE-3216CECF9E71}"/>
              </a:ext>
            </a:extLst>
          </p:cNvPr>
          <p:cNvSpPr>
            <a:spLocks noGrp="1"/>
          </p:cNvSpPr>
          <p:nvPr/>
        </p:nvSpPr>
        <p:spPr>
          <a:xfrm>
            <a:off x="762000" y="2192221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70E7E0"/>
                </a:solidFill>
                <a:latin typeface="Aptos"/>
                <a:ea typeface="Aptos"/>
                <a:cs typeface="Aptos"/>
              </a:rPr>
              <a:t>expanded speaking block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B25BDA-9865-4907-9E83-7D57869B971C}"/>
              </a:ext>
            </a:extLst>
          </p:cNvPr>
          <p:cNvSpPr>
            <a:spLocks noGrp="1"/>
          </p:cNvSpPr>
          <p:nvPr/>
        </p:nvSpPr>
        <p:spPr>
          <a:xfrm>
            <a:off x="723900" y="2449396"/>
            <a:ext cx="7429500" cy="247650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EE19B0-D739-4E6C-B401-2F94C45DA20D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57150" cy="24765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753A32-B1CD-4C6E-95F6-0CA8562CBD80}"/>
              </a:ext>
            </a:extLst>
          </p:cNvPr>
          <p:cNvSpPr>
            <a:spLocks noGrp="1"/>
          </p:cNvSpPr>
          <p:nvPr/>
        </p:nvSpPr>
        <p:spPr>
          <a:xfrm>
            <a:off x="933450" y="2620846"/>
            <a:ext cx="7010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F6FAFF"/>
                </a:solidFill>
                <a:latin typeface="Aptos"/>
                <a:ea typeface="Aptos"/>
                <a:cs typeface="Aptos"/>
              </a:rPr>
              <a:t>about 5 minutes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E921BA-FFE8-4CB4-BB01-51013495DCA6}"/>
              </a:ext>
            </a:extLst>
          </p:cNvPr>
          <p:cNvSpPr>
            <a:spLocks noGrp="1"/>
          </p:cNvSpPr>
          <p:nvPr/>
        </p:nvSpPr>
        <p:spPr>
          <a:xfrm>
            <a:off x="1123950" y="317604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9F73DA-4B3D-459F-B5BD-74F0E9A18CC9}"/>
              </a:ext>
            </a:extLst>
          </p:cNvPr>
          <p:cNvSpPr>
            <a:spLocks noGrp="1"/>
          </p:cNvSpPr>
          <p:nvPr/>
        </p:nvSpPr>
        <p:spPr>
          <a:xfrm>
            <a:off x="1333500" y="3078046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What worked well: reuse the tested scheduler, isolate the GUI, write guard tests.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5205BF-A95D-4A67-AE7E-5E9FF6F66101}"/>
              </a:ext>
            </a:extLst>
          </p:cNvPr>
          <p:cNvSpPr>
            <a:spLocks noGrp="1"/>
          </p:cNvSpPr>
          <p:nvPr/>
        </p:nvSpPr>
        <p:spPr>
          <a:xfrm>
            <a:off x="1123950" y="363324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B1416D-129D-4C24-8F3E-C69AD365FCF8}"/>
              </a:ext>
            </a:extLst>
          </p:cNvPr>
          <p:cNvSpPr>
            <a:spLocks noGrp="1"/>
          </p:cNvSpPr>
          <p:nvPr/>
        </p:nvSpPr>
        <p:spPr>
          <a:xfrm>
            <a:off x="1333500" y="3535246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What was hard: output scale, text protocol parsing, and keeping the UI responsive.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6BD509-30C7-4120-AAF3-3F51AE507D14}"/>
              </a:ext>
            </a:extLst>
          </p:cNvPr>
          <p:cNvSpPr>
            <a:spLocks noGrp="1"/>
          </p:cNvSpPr>
          <p:nvPr/>
        </p:nvSpPr>
        <p:spPr>
          <a:xfrm>
            <a:off x="1123950" y="409044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53B2BF-4E47-4D98-9216-554346A3CAF3}"/>
              </a:ext>
            </a:extLst>
          </p:cNvPr>
          <p:cNvSpPr>
            <a:spLocks noGrp="1"/>
          </p:cNvSpPr>
          <p:nvPr/>
        </p:nvSpPr>
        <p:spPr>
          <a:xfrm>
            <a:off x="1333500" y="3992446"/>
            <a:ext cx="636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What we would do differently: define structured events and boundaries earlier.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296BCF-868C-44B9-A58E-9AC0612F6F1F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2000250" cy="3333750"/>
          </a:xfrm>
          <a:prstGeom prst="rect">
            <a:avLst/>
          </a:prstGeom>
          <a:solidFill>
            <a:srgbClr val="223044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5EB6B1-BA5A-4A02-982C-270031201A10}"/>
              </a:ext>
            </a:extLst>
          </p:cNvPr>
          <p:cNvSpPr>
            <a:spLocks noGrp="1"/>
          </p:cNvSpPr>
          <p:nvPr/>
        </p:nvSpPr>
        <p:spPr>
          <a:xfrm>
            <a:off x="9163050" y="1981200"/>
            <a:ext cx="13906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70E7E0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063FF8-813B-4EA3-98C2-75224C497149}"/>
              </a:ext>
            </a:extLst>
          </p:cNvPr>
          <p:cNvSpPr>
            <a:spLocks noGrp="1"/>
          </p:cNvSpPr>
          <p:nvPr/>
        </p:nvSpPr>
        <p:spPr>
          <a:xfrm>
            <a:off x="9315450" y="3105150"/>
            <a:ext cx="110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291282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3A67A341-C01A-4104-9365-0FB9360E97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7E2AAE-1841-465B-AF92-83E9DE0540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C0514-AEC8-40E7-8EEA-D33957C7DFEF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22750-049C-44C6-8A37-7319C2D6C71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763B1-2521-49B8-B250-267A8410AFA9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066A3-4198-4535-B218-7D9323048EB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6B0F2-4126-4484-8D8B-8EEF5D63092B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940499-9CFF-490B-A279-B3D6CB1F788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96EEE1-D656-49D1-A36E-8F9FABFE133F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91DE04-B4FB-4E5F-ADCF-42A87C286CB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D655DE-974F-4D93-A982-22548EF9A9DF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B8448F-5A6E-4DBE-A117-E8D92FD809C5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E5C2F9-8452-46D9-A595-7940FFA2ACDE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06FCD-6CF6-4400-8F98-BDE4EB81143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FBD7DD-A29D-48E4-8778-03C73A6B942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EFFC7C-3AA8-41AB-BCEA-D749E2BC4BA4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E2C13-C6EB-4EC0-9BD3-DB72D00C782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FCB8C-7405-417F-BDAA-9394B5B5A8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2BFE08-3238-47BE-94C8-4F8DF76275B9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B0380E-27E0-4532-8C71-4BB032A711E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56B713-1061-4114-9B00-F3FEF5403D72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E15D8F-86C7-4A55-9310-4AB0247A2925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5B2F66-FCFA-47C6-AEE6-0786D10F685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3F17B9-B435-44B7-8AE2-8E567C84633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737350-D26A-46E7-8703-CF670570774F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A14401-1FC0-491F-A9A6-3C236AC3D485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A6D171-3907-45A2-8668-589C232037A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Team / reflection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3F1C86-8BA4-4E97-BAB5-102F191EBCA1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3C4331-9FE1-4DBD-B508-0898B8F09AF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6265B3-FFCE-4897-8249-F8B9C634287A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999EEA-9AC0-4DF2-B084-A657C8EA2E8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The bottleneck was controlling scale and boundaries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C6CEAE-B523-4AD0-8CFE-9EB4837E9003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Development-team insights to emphasize before Q&amp;A.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6E407A-6F34-4AAE-BD39-A6947335792D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D2224C-AB61-42AB-A8B0-18533644E7BB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57150" cy="276225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AC891F-31BE-45E4-8791-DF087EC87FD5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Worked well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FCF982-AAD8-4722-BEB8-9C3270B4F408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5C488D-2640-4A9F-A2EE-139F333696A5}"/>
              </a:ext>
            </a:extLst>
          </p:cNvPr>
          <p:cNvSpPr>
            <a:spLocks noGrp="1"/>
          </p:cNvSpPr>
          <p:nvPr/>
        </p:nvSpPr>
        <p:spPr>
          <a:xfrm>
            <a:off x="135255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V1 solver reuse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303531-8A36-4030-A20F-E92CFB4BD671}"/>
              </a:ext>
            </a:extLst>
          </p:cNvPr>
          <p:cNvSpPr>
            <a:spLocks noGrp="1"/>
          </p:cNvSpPr>
          <p:nvPr/>
        </p:nvSpPr>
        <p:spPr>
          <a:xfrm>
            <a:off x="1143000" y="33432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E8AFC9-2A4E-41AC-AD43-71AA14AE32CA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service adapter split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36D914-BFE3-4224-A3F6-4AE902BD5ECA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DF60BF-212B-43D5-962F-5017E3394E53}"/>
              </a:ext>
            </a:extLst>
          </p:cNvPr>
          <p:cNvSpPr>
            <a:spLocks noGrp="1"/>
          </p:cNvSpPr>
          <p:nvPr/>
        </p:nvSpPr>
        <p:spPr>
          <a:xfrm>
            <a:off x="135255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QProcess responsiveness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A06FE8-0B7E-4EF0-B126-5B214AE807D7}"/>
              </a:ext>
            </a:extLst>
          </p:cNvPr>
          <p:cNvSpPr>
            <a:spLocks noGrp="1"/>
          </p:cNvSpPr>
          <p:nvPr/>
        </p:nvSpPr>
        <p:spPr>
          <a:xfrm>
            <a:off x="1143000" y="3990975"/>
            <a:ext cx="76200" cy="76200"/>
          </a:xfrm>
          <a:prstGeom prst="rect">
            <a:avLst/>
          </a:prstGeom>
          <a:solidFill>
            <a:srgbClr val="9BE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F4CEE8-9496-405C-AE88-504484B36471}"/>
              </a:ext>
            </a:extLst>
          </p:cNvPr>
          <p:cNvSpPr>
            <a:spLocks noGrp="1"/>
          </p:cNvSpPr>
          <p:nvPr/>
        </p:nvSpPr>
        <p:spPr>
          <a:xfrm>
            <a:off x="1352550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architecture guard tests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011D87-4F2B-42F0-864C-0FB3467D7591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8299B8-B879-4F41-8139-8D7983BFF6A6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57150" cy="276225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09A7F6-F080-4571-AFAE-1A8B806F93FD}"/>
              </a:ext>
            </a:extLst>
          </p:cNvPr>
          <p:cNvSpPr>
            <a:spLocks noGrp="1"/>
          </p:cNvSpPr>
          <p:nvPr/>
        </p:nvSpPr>
        <p:spPr>
          <a:xfrm>
            <a:off x="378142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88610E2-B2C9-4FE5-A4E2-BC28CDDA586B}"/>
              </a:ext>
            </a:extLst>
          </p:cNvPr>
          <p:cNvSpPr>
            <a:spLocks noGrp="1"/>
          </p:cNvSpPr>
          <p:nvPr/>
        </p:nvSpPr>
        <p:spPr>
          <a:xfrm>
            <a:off x="3800475" y="30194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AC273B0-ACF8-4624-B90F-B9FFB959F6AB}"/>
              </a:ext>
            </a:extLst>
          </p:cNvPr>
          <p:cNvSpPr>
            <a:spLocks noGrp="1"/>
          </p:cNvSpPr>
          <p:nvPr/>
        </p:nvSpPr>
        <p:spPr>
          <a:xfrm>
            <a:off x="401002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complete-system scale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65EE287-E65B-473E-BEB3-CB3F15733A71}"/>
              </a:ext>
            </a:extLst>
          </p:cNvPr>
          <p:cNvSpPr>
            <a:spLocks noGrp="1"/>
          </p:cNvSpPr>
          <p:nvPr/>
        </p:nvSpPr>
        <p:spPr>
          <a:xfrm>
            <a:off x="3800475" y="33432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0A3A7F-0A8F-4A45-AB6E-786CC2743478}"/>
              </a:ext>
            </a:extLst>
          </p:cNvPr>
          <p:cNvSpPr>
            <a:spLocks noGrp="1"/>
          </p:cNvSpPr>
          <p:nvPr/>
        </p:nvSpPr>
        <p:spPr>
          <a:xfrm>
            <a:off x="401002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lazy output browsing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AB9C9E-B728-44E3-ACC8-0BAD31080455}"/>
              </a:ext>
            </a:extLst>
          </p:cNvPr>
          <p:cNvSpPr>
            <a:spLocks noGrp="1"/>
          </p:cNvSpPr>
          <p:nvPr/>
        </p:nvSpPr>
        <p:spPr>
          <a:xfrm>
            <a:off x="3800475" y="366712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E2A608E-0C0C-487A-9BE7-D9AFD7D224A4}"/>
              </a:ext>
            </a:extLst>
          </p:cNvPr>
          <p:cNvSpPr>
            <a:spLocks noGrp="1"/>
          </p:cNvSpPr>
          <p:nvPr/>
        </p:nvSpPr>
        <p:spPr>
          <a:xfrm>
            <a:off x="401002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stdout parsing edge cases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C4FACE-8BE7-4526-853B-B0719A3AE3E3}"/>
              </a:ext>
            </a:extLst>
          </p:cNvPr>
          <p:cNvSpPr>
            <a:spLocks noGrp="1"/>
          </p:cNvSpPr>
          <p:nvPr/>
        </p:nvSpPr>
        <p:spPr>
          <a:xfrm>
            <a:off x="3800475" y="3990975"/>
            <a:ext cx="76200" cy="76200"/>
          </a:xfrm>
          <a:prstGeom prst="rect">
            <a:avLst/>
          </a:prstGeom>
          <a:solidFill>
            <a:srgbClr val="F7B9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4D52A88-1007-4997-98AF-932BF8FB8E81}"/>
              </a:ext>
            </a:extLst>
          </p:cNvPr>
          <p:cNvSpPr>
            <a:spLocks noGrp="1"/>
          </p:cNvSpPr>
          <p:nvPr/>
        </p:nvSpPr>
        <p:spPr>
          <a:xfrm>
            <a:off x="4010025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UI state sync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2082EC-68F6-46A9-9EDB-4F6A60EFED52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B967DE-8381-4A2E-AB63-436E4589EE82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57150" cy="276225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458682-8F7D-455A-8BD4-D0203A871994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Would do differently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EB8E39-1388-4F6F-B8E8-C74A55F3039A}"/>
              </a:ext>
            </a:extLst>
          </p:cNvPr>
          <p:cNvSpPr>
            <a:spLocks noGrp="1"/>
          </p:cNvSpPr>
          <p:nvPr/>
        </p:nvSpPr>
        <p:spPr>
          <a:xfrm>
            <a:off x="6457950" y="30194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3FB466E-F50E-429E-B4AE-26F02C632001}"/>
              </a:ext>
            </a:extLst>
          </p:cNvPr>
          <p:cNvSpPr>
            <a:spLocks noGrp="1"/>
          </p:cNvSpPr>
          <p:nvPr/>
        </p:nvSpPr>
        <p:spPr>
          <a:xfrm>
            <a:off x="6667500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start with JSON events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B296D60-8092-4517-B903-8D37690531FE}"/>
              </a:ext>
            </a:extLst>
          </p:cNvPr>
          <p:cNvSpPr>
            <a:spLocks noGrp="1"/>
          </p:cNvSpPr>
          <p:nvPr/>
        </p:nvSpPr>
        <p:spPr>
          <a:xfrm>
            <a:off x="6457950" y="33432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F1E949-C4DE-4CCE-9A6C-77F79FF1434F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write boundary docs earlier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C88DD4-CB23-4BC2-9AA7-1BBCF7578CEB}"/>
              </a:ext>
            </a:extLst>
          </p:cNvPr>
          <p:cNvSpPr>
            <a:spLocks noGrp="1"/>
          </p:cNvSpPr>
          <p:nvPr/>
        </p:nvSpPr>
        <p:spPr>
          <a:xfrm>
            <a:off x="6457950" y="366712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0B8F341-BA40-405E-A956-D5700194AEA3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add screenshot QA earlier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6037FF-5BB7-4DE0-A7E0-2E505219BAB5}"/>
              </a:ext>
            </a:extLst>
          </p:cNvPr>
          <p:cNvSpPr>
            <a:spLocks noGrp="1"/>
          </p:cNvSpPr>
          <p:nvPr/>
        </p:nvSpPr>
        <p:spPr>
          <a:xfrm>
            <a:off x="6457950" y="3990975"/>
            <a:ext cx="76200" cy="76200"/>
          </a:xfrm>
          <a:prstGeom prst="rect">
            <a:avLst/>
          </a:prstGeom>
          <a:solidFill>
            <a:srgbClr val="3F7D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6D46104-183A-4F89-A559-808D00B058A1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reduce text-protocol coupling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650CB3-D662-4072-AC45-04C29378DA22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2390775" cy="2762250"/>
          </a:xfrm>
          <a:prstGeom prst="rect">
            <a:avLst/>
          </a:prstGeom>
          <a:solidFill>
            <a:srgbClr val="182231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1E116AB-FDC6-499E-AA5D-6436511B2251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57150" cy="276225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24D8E8-2419-454C-BE23-BF2547252B21}"/>
              </a:ext>
            </a:extLst>
          </p:cNvPr>
          <p:cNvSpPr>
            <a:spLocks noGrp="1"/>
          </p:cNvSpPr>
          <p:nvPr/>
        </p:nvSpPr>
        <p:spPr>
          <a:xfrm>
            <a:off x="9096375" y="2438400"/>
            <a:ext cx="19716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Use of AI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E9D9AD9-94A0-4536-8C94-A7B4436D18AC}"/>
              </a:ext>
            </a:extLst>
          </p:cNvPr>
          <p:cNvSpPr>
            <a:spLocks noGrp="1"/>
          </p:cNvSpPr>
          <p:nvPr/>
        </p:nvSpPr>
        <p:spPr>
          <a:xfrm>
            <a:off x="9115425" y="30194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1FF583-8F24-4B1E-8AFB-E286ECF9F5CB}"/>
              </a:ext>
            </a:extLst>
          </p:cNvPr>
          <p:cNvSpPr>
            <a:spLocks noGrp="1"/>
          </p:cNvSpPr>
          <p:nvPr/>
        </p:nvSpPr>
        <p:spPr>
          <a:xfrm>
            <a:off x="9324975" y="29337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test scenarios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AA621A6-CAF1-47BB-A2DD-F51ACFEA27B1}"/>
              </a:ext>
            </a:extLst>
          </p:cNvPr>
          <p:cNvSpPr>
            <a:spLocks noGrp="1"/>
          </p:cNvSpPr>
          <p:nvPr/>
        </p:nvSpPr>
        <p:spPr>
          <a:xfrm>
            <a:off x="9115425" y="33432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D243CAA-D32F-4694-9C03-22A8F06CCFB4}"/>
              </a:ext>
            </a:extLst>
          </p:cNvPr>
          <p:cNvSpPr>
            <a:spLocks noGrp="1"/>
          </p:cNvSpPr>
          <p:nvPr/>
        </p:nvSpPr>
        <p:spPr>
          <a:xfrm>
            <a:off x="9324975" y="32575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architecture review prompts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20D53B5-AA10-4898-AC85-3A0007A8BE91}"/>
              </a:ext>
            </a:extLst>
          </p:cNvPr>
          <p:cNvSpPr>
            <a:spLocks noGrp="1"/>
          </p:cNvSpPr>
          <p:nvPr/>
        </p:nvSpPr>
        <p:spPr>
          <a:xfrm>
            <a:off x="9115425" y="366712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BD4F281-7AFD-4E41-95F9-7DCCE7511A3B}"/>
              </a:ext>
            </a:extLst>
          </p:cNvPr>
          <p:cNvSpPr>
            <a:spLocks noGrp="1"/>
          </p:cNvSpPr>
          <p:nvPr/>
        </p:nvSpPr>
        <p:spPr>
          <a:xfrm>
            <a:off x="9324975" y="358140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documentation wording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CF18D72-19E8-48DC-8695-9532A6DD0613}"/>
              </a:ext>
            </a:extLst>
          </p:cNvPr>
          <p:cNvSpPr>
            <a:spLocks noGrp="1"/>
          </p:cNvSpPr>
          <p:nvPr/>
        </p:nvSpPr>
        <p:spPr>
          <a:xfrm>
            <a:off x="9115425" y="3990975"/>
            <a:ext cx="76200" cy="76200"/>
          </a:xfrm>
          <a:prstGeom prst="rect">
            <a:avLst/>
          </a:prstGeom>
          <a:solidFill>
            <a:srgbClr val="70E7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08BD671-D848-4879-8201-D0FC59D8C6E1}"/>
              </a:ext>
            </a:extLst>
          </p:cNvPr>
          <p:cNvSpPr>
            <a:spLocks noGrp="1"/>
          </p:cNvSpPr>
          <p:nvPr/>
        </p:nvSpPr>
        <p:spPr>
          <a:xfrm>
            <a:off x="9324975" y="3905250"/>
            <a:ext cx="1781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presentation structure</a:t>
            </a:r>
          </a:p>
        </p:txBody>
      </p:sp>
    </p:spTree>
    <p:extLst>
      <p:ext uri="{BB962C8B-B14F-4D97-AF65-F5344CB8AC3E}">
        <p14:creationId xmlns:p14="http://schemas.microsoft.com/office/powerpoint/2010/main" val="1483212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488C5425-BE0F-4EED-9734-2FD48693C9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87EFF1-88F1-4E8C-BA32-69A936787B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E4F12-C246-4F94-99C8-64618C8B33FB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ACCA0-8FA8-42AA-976A-7547755E4973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1FA65-FCB3-40F7-A832-705AC451BE0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FA7427-23D9-4ADE-99E3-3982F326395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C8D22-AE6E-4C9F-9F1A-B6F62A782021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14663D-703F-4E83-B80D-7D64BCCBDBB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7C131F-E968-4F20-BEAB-8CDC5C87BCF9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A37EAB-1D46-45AC-90CF-758DDDBCAE3A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4D7F49-2DD3-432E-9258-D6CC01F83AF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A34DF4-3066-4A59-8B38-3AFDFF541B5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6C3CA7-6498-4DCC-9CEA-8B12B17EB88E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48469E-4D3F-43F8-A0B0-84AE0CC58FF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C6D84-86F9-49E0-B6B8-0C6B49D971B4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87CD4-9670-4CE4-8B83-ED0AA157C338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5021B-4972-46C0-8F93-78E379D13307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CFB57-5F05-4702-AC87-EB69A54EF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3FDC4-A615-4870-90AB-B427020A0A2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01429D-60EE-4356-B334-EEA7E49F246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37286B-A9A5-4767-B074-9F055FC9081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8A5995-D963-4936-A0C8-D277DFF52CD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BACE9D-8FE4-4A89-B6D4-8094F3284AD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91B096-5B70-4352-A8BD-ABDE56D94EC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2F54F5-D245-4C09-9462-194B07E860E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4D42B-AD72-4BCE-B7C7-26EA2EE2C88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63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F0980A-C189-4FC3-9938-FAF6D4211D8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Audience Q&amp;A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85D514-57D3-4151-B20E-8BF5EA2DCF41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35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371C7C-BE89-4994-B8CB-2048B8DCCC6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ExamScheduler V2 presentation | local repository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1A5161-B1DF-4C13-B0BD-65605CE90BF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CD8DF3-30A2-4147-8449-C502903BF27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28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AFF"/>
                </a:solidFill>
                <a:latin typeface="Aptos Display"/>
                <a:ea typeface="Aptos Display"/>
                <a:cs typeface="Aptos Display"/>
              </a:rPr>
              <a:t>Questions should test the design choices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3BE3A5-AD9D-4054-B15E-331F28254CF9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952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Prepared answer anchors for project review.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AA08AD-EEE5-4437-8042-5AE442876D11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438150"/>
          </a:xfrm>
          <a:prstGeom prst="rect">
            <a:avLst/>
          </a:prstGeom>
          <a:solidFill>
            <a:srgbClr val="27364B"/>
          </a:solidFill>
          <a:ln w="11430">
            <a:solidFill>
              <a:srgbClr val="35506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F66950-A322-4CD9-A76D-2FB3166B188B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F44B2B-A76C-45B7-B947-A9AC177BCE2E}"/>
              </a:ext>
            </a:extLst>
          </p:cNvPr>
          <p:cNvSpPr>
            <a:spLocks noGrp="1"/>
          </p:cNvSpPr>
          <p:nvPr/>
        </p:nvSpPr>
        <p:spPr>
          <a:xfrm>
            <a:off x="44132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Likely question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51B9AD-8EEA-4E47-B997-9CDA03E3F870}"/>
              </a:ext>
            </a:extLst>
          </p:cNvPr>
          <p:cNvSpPr>
            <a:spLocks noGrp="1"/>
          </p:cNvSpPr>
          <p:nvPr/>
        </p:nvSpPr>
        <p:spPr>
          <a:xfrm>
            <a:off x="8007350" y="2209800"/>
            <a:ext cx="336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AFF"/>
                </a:solidFill>
                <a:latin typeface="Aptos"/>
                <a:ea typeface="Aptos"/>
                <a:cs typeface="Aptos"/>
              </a:rPr>
              <a:t>Short answer anchor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8102C-A565-483A-8279-F77DCDFA5411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10782300" cy="78105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349F1F-20D0-4033-8481-F2B478D50867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5B42A0-E4FA-4E63-B569-C441BFE65CD1}"/>
              </a:ext>
            </a:extLst>
          </p:cNvPr>
          <p:cNvSpPr>
            <a:spLocks noGrp="1"/>
          </p:cNvSpPr>
          <p:nvPr/>
        </p:nvSpPr>
        <p:spPr>
          <a:xfrm>
            <a:off x="4432300" y="26289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Why QProcess instead of direct solver calls?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3D3025-20CF-4734-91B5-17DCEE5BA98E}"/>
              </a:ext>
            </a:extLst>
          </p:cNvPr>
          <p:cNvSpPr>
            <a:spLocks noGrp="1"/>
          </p:cNvSpPr>
          <p:nvPr/>
        </p:nvSpPr>
        <p:spPr>
          <a:xfrm>
            <a:off x="8026400" y="26289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Responsiveness and process isolation; cost is adapter/protocol complexity.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3B5CBF-2E31-4A9D-9DEE-FCBC9A169C5D}"/>
              </a:ext>
            </a:extLst>
          </p:cNvPr>
          <p:cNvSpPr>
            <a:spLocks noGrp="1"/>
          </p:cNvSpPr>
          <p:nvPr/>
        </p:nvSpPr>
        <p:spPr>
          <a:xfrm>
            <a:off x="704850" y="3314700"/>
            <a:ext cx="10782300" cy="78105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9B9403B-4233-483E-ADEE-A084C4880D2C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Offline design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D9C08A-72CE-4849-BA5F-3BD3B51D24A6}"/>
              </a:ext>
            </a:extLst>
          </p:cNvPr>
          <p:cNvSpPr>
            <a:spLocks noGrp="1"/>
          </p:cNvSpPr>
          <p:nvPr/>
        </p:nvSpPr>
        <p:spPr>
          <a:xfrm>
            <a:off x="4432300" y="34099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Why not a local server?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57FB14-ED19-4F0C-8373-1602FB045793}"/>
              </a:ext>
            </a:extLst>
          </p:cNvPr>
          <p:cNvSpPr>
            <a:spLocks noGrp="1"/>
          </p:cNvSpPr>
          <p:nvPr/>
        </p:nvSpPr>
        <p:spPr>
          <a:xfrm>
            <a:off x="8026400" y="34099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Requirement and tests keep the app standalone and socket-free.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B9E3E3-DCEF-401C-88A2-56D32D445148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10782300" cy="781050"/>
          </a:xfrm>
          <a:prstGeom prst="rect">
            <a:avLst/>
          </a:prstGeom>
          <a:solidFill>
            <a:srgbClr val="223044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F2EF4F-8481-43DD-8424-8F5B9281B001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E9E52D-8E1B-4630-B020-CED80C3C2CD8}"/>
              </a:ext>
            </a:extLst>
          </p:cNvPr>
          <p:cNvSpPr>
            <a:spLocks noGrp="1"/>
          </p:cNvSpPr>
          <p:nvPr/>
        </p:nvSpPr>
        <p:spPr>
          <a:xfrm>
            <a:off x="4432300" y="41910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What came up in review?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A74D12-4F42-423A-91C3-7B0ADA8A50F6}"/>
              </a:ext>
            </a:extLst>
          </p:cNvPr>
          <p:cNvSpPr>
            <a:spLocks noGrp="1"/>
          </p:cNvSpPr>
          <p:nvPr/>
        </p:nvSpPr>
        <p:spPr>
          <a:xfrm>
            <a:off x="8026400" y="419100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Boundary risks, stale cache, stdout parsing, and responsiveness became guard tests.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7205BA-2292-493F-A205-F26C4E81DA69}"/>
              </a:ext>
            </a:extLst>
          </p:cNvPr>
          <p:cNvSpPr>
            <a:spLocks noGrp="1"/>
          </p:cNvSpPr>
          <p:nvPr/>
        </p:nvSpPr>
        <p:spPr>
          <a:xfrm>
            <a:off x="704850" y="4876800"/>
            <a:ext cx="10782300" cy="781050"/>
          </a:xfrm>
          <a:prstGeom prst="rect">
            <a:avLst/>
          </a:prstGeom>
          <a:solidFill>
            <a:srgbClr val="182231"/>
          </a:solidFill>
          <a:ln w="6668">
            <a:solidFill>
              <a:srgbClr val="35506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A68646-896B-496E-A16B-CC47756B9573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0E7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E7E0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434842A-085B-4F70-980B-E2FA51B3B1FE}"/>
              </a:ext>
            </a:extLst>
          </p:cNvPr>
          <p:cNvSpPr>
            <a:spLocks noGrp="1"/>
          </p:cNvSpPr>
          <p:nvPr/>
        </p:nvSpPr>
        <p:spPr>
          <a:xfrm>
            <a:off x="4432300" y="49720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What would V3 improve first?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08913D-FAA0-4029-B153-2D0F663DBA29}"/>
              </a:ext>
            </a:extLst>
          </p:cNvPr>
          <p:cNvSpPr>
            <a:spLocks noGrp="1"/>
          </p:cNvSpPr>
          <p:nvPr/>
        </p:nvSpPr>
        <p:spPr>
          <a:xfrm>
            <a:off x="8026400" y="4972050"/>
            <a:ext cx="3327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5F2"/>
                </a:solidFill>
                <a:latin typeface="Aptos"/>
                <a:ea typeface="Aptos"/>
                <a:cs typeface="Aptos"/>
              </a:rPr>
              <a:t>Replace human-readable stdout parsing with structured JSON events.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2FDADE-ECA5-499C-A869-71663296FA9B}"/>
              </a:ext>
            </a:extLst>
          </p:cNvPr>
          <p:cNvSpPr>
            <a:spLocks noGrp="1"/>
          </p:cNvSpPr>
          <p:nvPr/>
        </p:nvSpPr>
        <p:spPr>
          <a:xfrm>
            <a:off x="1047750" y="575310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91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3B8"/>
                </a:solidFill>
                <a:latin typeface="Aptos"/>
                <a:ea typeface="Aptos"/>
                <a:cs typeface="Aptos"/>
              </a:rPr>
              <a:t>Closing line: V2 is a local desktop workflow with explicit boundaries around a proven scheduler.</a:t>
            </a:r>
          </a:p>
        </p:txBody>
      </p:sp>
    </p:spTree>
    <p:extLst>
      <p:ext uri="{BB962C8B-B14F-4D97-AF65-F5344CB8AC3E}">
        <p14:creationId xmlns:p14="http://schemas.microsoft.com/office/powerpoint/2010/main" val="16915959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2528</Words>
  <Application>Microsoft Office PowerPoint</Application>
  <DocSecurity>0</DocSecurity>
  <PresentationFormat>Widescreen</PresentationFormat>
  <Paragraphs>556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אוריאן ביטון</cp:lastModifiedBy>
  <cp:revision>1</cp:revision>
  <dcterms:created xsi:type="dcterms:W3CDTF">2026-06-09T23:22:33Z</dcterms:created>
  <dcterms:modified xsi:type="dcterms:W3CDTF">2026-06-09T23:46:13Z</dcterms:modified>
</cp:coreProperties>
</file>